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Arbutus Slab" charset="1" panose="020000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notesMasters/notesMaster1.xml" Type="http://schemas.openxmlformats.org/officeDocument/2006/relationships/notesMaster"/><Relationship Id="rId35" Target="theme/theme2.xml" Type="http://schemas.openxmlformats.org/officeDocument/2006/relationships/theme"/><Relationship Id="rId36" Target="notesSlides/notesSlide1.xml" Type="http://schemas.openxmlformats.org/officeDocument/2006/relationships/notesSlide"/><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jpeg" Type="http://schemas.openxmlformats.org/officeDocument/2006/relationships/image"/><Relationship Id="rId4" Target="../media/VAGlANInpuM.mp4" Type="http://schemas.openxmlformats.org/officeDocument/2006/relationships/video"/><Relationship Id="rId5" Target="../media/VAGlANInpuM.mp4" Type="http://schemas.microsoft.com/office/2007/relationships/media"/></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0.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 Id="rId8" Target="../media/image2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 Id="rId7" Target="../media/image4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44.pn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4.png" Type="http://schemas.openxmlformats.org/officeDocument/2006/relationships/image"/><Relationship Id="rId4" Target="../media/image55.png" Type="http://schemas.openxmlformats.org/officeDocument/2006/relationships/image"/><Relationship Id="rId5" Target="../media/image56.png" Type="http://schemas.openxmlformats.org/officeDocument/2006/relationships/image"/><Relationship Id="rId6" Target="../media/image57.png" Type="http://schemas.openxmlformats.org/officeDocument/2006/relationships/image"/><Relationship Id="rId7" Target="../media/image5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9.png" Type="http://schemas.openxmlformats.org/officeDocument/2006/relationships/image"/><Relationship Id="rId4" Target="../media/image6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1.png" Type="http://schemas.openxmlformats.org/officeDocument/2006/relationships/image"/><Relationship Id="rId4" Target="../media/image6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3.jpeg" Type="http://schemas.openxmlformats.org/officeDocument/2006/relationships/image"/><Relationship Id="rId4" Target="../media/VAGlAI8mjNc.mp4" Type="http://schemas.openxmlformats.org/officeDocument/2006/relationships/video"/><Relationship Id="rId5" Target="../media/VAGlAI8mjNc.mp4" Type="http://schemas.microsoft.com/office/2007/relationships/media"/></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4.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5.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6.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7.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8.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9.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68007" y="8048056"/>
            <a:ext cx="3613439" cy="1041160"/>
          </a:xfrm>
          <a:custGeom>
            <a:avLst/>
            <a:gdLst/>
            <a:ahLst/>
            <a:cxnLst/>
            <a:rect r="r" b="b" t="t" l="l"/>
            <a:pathLst>
              <a:path h="1041160" w="3613439">
                <a:moveTo>
                  <a:pt x="0" y="0"/>
                </a:moveTo>
                <a:lnTo>
                  <a:pt x="3613439" y="0"/>
                </a:lnTo>
                <a:lnTo>
                  <a:pt x="3613439" y="1041160"/>
                </a:lnTo>
                <a:lnTo>
                  <a:pt x="0" y="1041160"/>
                </a:lnTo>
                <a:lnTo>
                  <a:pt x="0" y="0"/>
                </a:lnTo>
                <a:close/>
              </a:path>
            </a:pathLst>
          </a:custGeom>
          <a:blipFill>
            <a:blip r:embed="rId3"/>
            <a:stretch>
              <a:fillRect l="0" t="0" r="0" b="0"/>
            </a:stretch>
          </a:blipFill>
        </p:spPr>
      </p:sp>
      <p:grpSp>
        <p:nvGrpSpPr>
          <p:cNvPr name="Group 3" id="3"/>
          <p:cNvGrpSpPr/>
          <p:nvPr/>
        </p:nvGrpSpPr>
        <p:grpSpPr>
          <a:xfrm rot="5400000">
            <a:off x="7331691" y="-7331691"/>
            <a:ext cx="3624618" cy="18288000"/>
            <a:chOff x="0" y="0"/>
            <a:chExt cx="954632" cy="4816593"/>
          </a:xfrm>
        </p:grpSpPr>
        <p:sp>
          <p:nvSpPr>
            <p:cNvPr name="Freeform 4" id="4"/>
            <p:cNvSpPr/>
            <p:nvPr/>
          </p:nvSpPr>
          <p:spPr>
            <a:xfrm flipH="false" flipV="false" rot="0">
              <a:off x="0" y="0"/>
              <a:ext cx="954632" cy="4816592"/>
            </a:xfrm>
            <a:custGeom>
              <a:avLst/>
              <a:gdLst/>
              <a:ahLst/>
              <a:cxnLst/>
              <a:rect r="r" b="b" t="t" l="l"/>
              <a:pathLst>
                <a:path h="4816592" w="954632">
                  <a:moveTo>
                    <a:pt x="0" y="0"/>
                  </a:moveTo>
                  <a:lnTo>
                    <a:pt x="954632" y="0"/>
                  </a:lnTo>
                  <a:lnTo>
                    <a:pt x="954632" y="4816592"/>
                  </a:lnTo>
                  <a:lnTo>
                    <a:pt x="0" y="4816592"/>
                  </a:lnTo>
                  <a:close/>
                </a:path>
              </a:pathLst>
            </a:custGeom>
            <a:solidFill>
              <a:srgbClr val="291B25"/>
            </a:solidFill>
          </p:spPr>
        </p:sp>
        <p:sp>
          <p:nvSpPr>
            <p:cNvPr name="TextBox 5" id="5"/>
            <p:cNvSpPr txBox="true"/>
            <p:nvPr/>
          </p:nvSpPr>
          <p:spPr>
            <a:xfrm>
              <a:off x="0" y="-47625"/>
              <a:ext cx="954632" cy="4864218"/>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5400000">
            <a:off x="8776764" y="775764"/>
            <a:ext cx="734472" cy="18288000"/>
            <a:chOff x="0" y="0"/>
            <a:chExt cx="193441" cy="4816593"/>
          </a:xfrm>
        </p:grpSpPr>
        <p:sp>
          <p:nvSpPr>
            <p:cNvPr name="Freeform 7" id="7"/>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8" id="8"/>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256425" y="3997440"/>
            <a:ext cx="8057600" cy="5021626"/>
            <a:chOff x="0" y="0"/>
            <a:chExt cx="2122166" cy="1322568"/>
          </a:xfrm>
        </p:grpSpPr>
        <p:sp>
          <p:nvSpPr>
            <p:cNvPr name="Freeform 10" id="10"/>
            <p:cNvSpPr/>
            <p:nvPr/>
          </p:nvSpPr>
          <p:spPr>
            <a:xfrm flipH="false" flipV="false" rot="0">
              <a:off x="0" y="0"/>
              <a:ext cx="2122166" cy="1322568"/>
            </a:xfrm>
            <a:custGeom>
              <a:avLst/>
              <a:gdLst/>
              <a:ahLst/>
              <a:cxnLst/>
              <a:rect r="r" b="b" t="t" l="l"/>
              <a:pathLst>
                <a:path h="1322568" w="2122166">
                  <a:moveTo>
                    <a:pt x="49002" y="0"/>
                  </a:moveTo>
                  <a:lnTo>
                    <a:pt x="2073164" y="0"/>
                  </a:lnTo>
                  <a:cubicBezTo>
                    <a:pt x="2086160" y="0"/>
                    <a:pt x="2098624" y="5163"/>
                    <a:pt x="2107814" y="14352"/>
                  </a:cubicBezTo>
                  <a:cubicBezTo>
                    <a:pt x="2117004" y="23542"/>
                    <a:pt x="2122166" y="36006"/>
                    <a:pt x="2122166" y="49002"/>
                  </a:cubicBezTo>
                  <a:lnTo>
                    <a:pt x="2122166" y="1273566"/>
                  </a:lnTo>
                  <a:cubicBezTo>
                    <a:pt x="2122166" y="1300629"/>
                    <a:pt x="2100227" y="1322568"/>
                    <a:pt x="2073164" y="1322568"/>
                  </a:cubicBezTo>
                  <a:lnTo>
                    <a:pt x="49002" y="1322568"/>
                  </a:lnTo>
                  <a:cubicBezTo>
                    <a:pt x="21939" y="1322568"/>
                    <a:pt x="0" y="1300629"/>
                    <a:pt x="0" y="1273566"/>
                  </a:cubicBezTo>
                  <a:lnTo>
                    <a:pt x="0" y="49002"/>
                  </a:lnTo>
                  <a:cubicBezTo>
                    <a:pt x="0" y="21939"/>
                    <a:pt x="21939" y="0"/>
                    <a:pt x="49002" y="0"/>
                  </a:cubicBezTo>
                  <a:close/>
                </a:path>
              </a:pathLst>
            </a:custGeom>
            <a:solidFill>
              <a:srgbClr val="000000">
                <a:alpha val="0"/>
              </a:srgbClr>
            </a:solidFill>
            <a:ln w="38100" cap="rnd">
              <a:solidFill>
                <a:srgbClr val="291B25"/>
              </a:solidFill>
              <a:prstDash val="solid"/>
              <a:round/>
            </a:ln>
          </p:spPr>
        </p:sp>
        <p:sp>
          <p:nvSpPr>
            <p:cNvPr name="TextBox 11" id="11"/>
            <p:cNvSpPr txBox="true"/>
            <p:nvPr/>
          </p:nvSpPr>
          <p:spPr>
            <a:xfrm>
              <a:off x="0" y="-47625"/>
              <a:ext cx="2122166" cy="1370193"/>
            </a:xfrm>
            <a:prstGeom prst="rect">
              <a:avLst/>
            </a:prstGeom>
          </p:spPr>
          <p:txBody>
            <a:bodyPr anchor="ctr" rtlCol="false" tIns="50800" lIns="50800" bIns="50800" rIns="50800"/>
            <a:lstStyle/>
            <a:p>
              <a:pPr algn="ctr">
                <a:lnSpc>
                  <a:spcPts val="3499"/>
                </a:lnSpc>
              </a:pPr>
              <a:r>
                <a:rPr lang="en-US" sz="2499">
                  <a:solidFill>
                    <a:srgbClr val="FFFFFF"/>
                  </a:solidFill>
                  <a:latin typeface="Arbutus Slab"/>
                  <a:ea typeface="Arbutus Slab"/>
                  <a:cs typeface="Arbutus Slab"/>
                  <a:sym typeface="Arbutus Slab"/>
                </a:rPr>
                <a:t>f</a:t>
              </a:r>
            </a:p>
          </p:txBody>
        </p:sp>
      </p:grpSp>
      <p:sp>
        <p:nvSpPr>
          <p:cNvPr name="TextBox 12" id="12"/>
          <p:cNvSpPr txBox="true"/>
          <p:nvPr/>
        </p:nvSpPr>
        <p:spPr>
          <a:xfrm rot="0">
            <a:off x="1371510" y="408290"/>
            <a:ext cx="15215030" cy="3055689"/>
          </a:xfrm>
          <a:prstGeom prst="rect">
            <a:avLst/>
          </a:prstGeom>
        </p:spPr>
        <p:txBody>
          <a:bodyPr anchor="t" rtlCol="false" tIns="0" lIns="0" bIns="0" rIns="0">
            <a:spAutoFit/>
          </a:bodyPr>
          <a:lstStyle/>
          <a:p>
            <a:pPr algn="ctr">
              <a:lnSpc>
                <a:spcPts val="7831"/>
              </a:lnSpc>
            </a:pPr>
            <a:r>
              <a:rPr lang="en-US" sz="8701" spc="-174">
                <a:solidFill>
                  <a:srgbClr val="FFFFFF"/>
                </a:solidFill>
                <a:latin typeface="Arbutus Slab"/>
                <a:ea typeface="Arbutus Slab"/>
                <a:cs typeface="Arbutus Slab"/>
                <a:sym typeface="Arbutus Slab"/>
              </a:rPr>
              <a:t>Design and Control of the Lift Subsystem of a Two-Wheeled Forklift Robot</a:t>
            </a:r>
          </a:p>
        </p:txBody>
      </p:sp>
      <p:sp>
        <p:nvSpPr>
          <p:cNvPr name="TextBox 13" id="13"/>
          <p:cNvSpPr txBox="true"/>
          <p:nvPr/>
        </p:nvSpPr>
        <p:spPr>
          <a:xfrm rot="0">
            <a:off x="8346894" y="4030780"/>
            <a:ext cx="9055666" cy="3683001"/>
          </a:xfrm>
          <a:prstGeom prst="rect">
            <a:avLst/>
          </a:prstGeom>
        </p:spPr>
        <p:txBody>
          <a:bodyPr anchor="t" rtlCol="false" tIns="0" lIns="0" bIns="0" rIns="0">
            <a:spAutoFit/>
          </a:bodyPr>
          <a:lstStyle/>
          <a:p>
            <a:pPr algn="ctr">
              <a:lnSpc>
                <a:spcPts val="4899"/>
              </a:lnSpc>
            </a:pPr>
            <a:r>
              <a:rPr lang="en-US" sz="3499">
                <a:solidFill>
                  <a:srgbClr val="291B25"/>
                </a:solidFill>
                <a:latin typeface="Arbutus Slab"/>
                <a:ea typeface="Arbutus Slab"/>
                <a:cs typeface="Arbutus Slab"/>
                <a:sym typeface="Arbutus Slab"/>
              </a:rPr>
              <a:t>Sergio Esteban Quintero Benavides</a:t>
            </a:r>
          </a:p>
          <a:p>
            <a:pPr algn="ctr">
              <a:lnSpc>
                <a:spcPts val="4899"/>
              </a:lnSpc>
            </a:pPr>
            <a:r>
              <a:rPr lang="en-US" sz="3499">
                <a:solidFill>
                  <a:srgbClr val="291B25"/>
                </a:solidFill>
                <a:latin typeface="Arbutus Slab"/>
                <a:ea typeface="Arbutus Slab"/>
                <a:cs typeface="Arbutus Slab"/>
                <a:sym typeface="Arbutus Slab"/>
              </a:rPr>
              <a:t>Keio University</a:t>
            </a:r>
          </a:p>
          <a:p>
            <a:pPr algn="ctr">
              <a:lnSpc>
                <a:spcPts val="4899"/>
              </a:lnSpc>
            </a:pPr>
            <a:r>
              <a:rPr lang="en-US" sz="3499">
                <a:solidFill>
                  <a:srgbClr val="291B25"/>
                </a:solidFill>
                <a:latin typeface="Arbutus Slab"/>
                <a:ea typeface="Arbutus Slab"/>
                <a:cs typeface="Arbutus Slab"/>
                <a:sym typeface="Arbutus Slab"/>
              </a:rPr>
              <a:t>Faculty of Science and Technology</a:t>
            </a:r>
          </a:p>
          <a:p>
            <a:pPr algn="ctr">
              <a:lnSpc>
                <a:spcPts val="4899"/>
              </a:lnSpc>
            </a:pPr>
            <a:r>
              <a:rPr lang="en-US" sz="3499">
                <a:solidFill>
                  <a:srgbClr val="291B25"/>
                </a:solidFill>
                <a:latin typeface="Arbutus Slab"/>
                <a:ea typeface="Arbutus Slab"/>
                <a:cs typeface="Arbutus Slab"/>
                <a:sym typeface="Arbutus Slab"/>
              </a:rPr>
              <a:t>School of Integrated Design Engineering</a:t>
            </a:r>
          </a:p>
          <a:p>
            <a:pPr algn="ctr">
              <a:lnSpc>
                <a:spcPts val="4899"/>
              </a:lnSpc>
            </a:pPr>
            <a:r>
              <a:rPr lang="en-US" sz="3499">
                <a:solidFill>
                  <a:srgbClr val="291B25"/>
                </a:solidFill>
                <a:latin typeface="Arbutus Slab"/>
                <a:ea typeface="Arbutus Slab"/>
                <a:cs typeface="Arbutus Slab"/>
                <a:sym typeface="Arbutus Slab"/>
              </a:rPr>
              <a:t>Murakami Laboratory</a:t>
            </a:r>
          </a:p>
          <a:p>
            <a:pPr algn="ctr">
              <a:lnSpc>
                <a:spcPts val="4899"/>
              </a:lnSpc>
            </a:pPr>
            <a:r>
              <a:rPr lang="en-US" sz="3499">
                <a:solidFill>
                  <a:srgbClr val="291B25"/>
                </a:solidFill>
                <a:latin typeface="Arbutus Slab"/>
                <a:ea typeface="Arbutus Slab"/>
                <a:cs typeface="Arbutus Slab"/>
                <a:sym typeface="Arbutus Slab"/>
              </a:rPr>
              <a:t>2nd year – Master’s degree</a:t>
            </a:r>
          </a:p>
        </p:txBody>
      </p:sp>
      <p:sp>
        <p:nvSpPr>
          <p:cNvPr name="TextBox 14" id="14"/>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1</a:t>
            </a:r>
          </a:p>
        </p:txBody>
      </p:sp>
      <p:sp>
        <p:nvSpPr>
          <p:cNvPr name="TextBox 15" id="15"/>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6" id="16"/>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
        <p:nvSpPr>
          <p:cNvPr name="TextBox 17" id="17"/>
          <p:cNvSpPr txBox="true"/>
          <p:nvPr/>
        </p:nvSpPr>
        <p:spPr>
          <a:xfrm rot="0">
            <a:off x="427497" y="4061200"/>
            <a:ext cx="8551529" cy="4751071"/>
          </a:xfrm>
          <a:prstGeom prst="rect">
            <a:avLst/>
          </a:prstGeom>
        </p:spPr>
        <p:txBody>
          <a:bodyPr anchor="t" rtlCol="false" tIns="0" lIns="0" bIns="0" rIns="0">
            <a:spAutoFit/>
          </a:bodyPr>
          <a:lstStyle/>
          <a:p>
            <a:pPr algn="ctr">
              <a:lnSpc>
                <a:spcPts val="6579"/>
              </a:lnSpc>
            </a:pPr>
            <a:r>
              <a:rPr lang="en-US" sz="4699">
                <a:solidFill>
                  <a:srgbClr val="291B25"/>
                </a:solidFill>
                <a:latin typeface="Arbutus Slab"/>
                <a:ea typeface="Arbutus Slab"/>
                <a:cs typeface="Arbutus Slab"/>
                <a:sym typeface="Arbutus Slab"/>
              </a:rPr>
              <a:t>Content</a:t>
            </a:r>
          </a:p>
          <a:p>
            <a:pPr algn="just">
              <a:lnSpc>
                <a:spcPts val="5179"/>
              </a:lnSpc>
            </a:pPr>
            <a:r>
              <a:rPr lang="en-US" sz="3699">
                <a:solidFill>
                  <a:srgbClr val="291B25"/>
                </a:solidFill>
                <a:latin typeface="Arbutus Slab"/>
                <a:ea typeface="Arbutus Slab"/>
                <a:cs typeface="Arbutus Slab"/>
                <a:sym typeface="Arbutus Slab"/>
              </a:rPr>
              <a:t>I.   </a:t>
            </a:r>
            <a:r>
              <a:rPr lang="en-US" sz="3699">
                <a:solidFill>
                  <a:srgbClr val="291B25"/>
                </a:solidFill>
                <a:latin typeface="Arbutus Slab"/>
                <a:ea typeface="Arbutus Slab"/>
                <a:cs typeface="Arbutus Slab"/>
                <a:sym typeface="Arbutus Slab"/>
              </a:rPr>
              <a:t>Introduction</a:t>
            </a:r>
          </a:p>
          <a:p>
            <a:pPr algn="just">
              <a:lnSpc>
                <a:spcPts val="5179"/>
              </a:lnSpc>
            </a:pPr>
            <a:r>
              <a:rPr lang="en-US" sz="3699">
                <a:solidFill>
                  <a:srgbClr val="291B25"/>
                </a:solidFill>
                <a:latin typeface="Arbutus Slab"/>
                <a:ea typeface="Arbutus Slab"/>
                <a:cs typeface="Arbutus Slab"/>
                <a:sym typeface="Arbutus Slab"/>
              </a:rPr>
              <a:t>II.  Conceptual</a:t>
            </a:r>
            <a:r>
              <a:rPr lang="en-US" sz="3699">
                <a:solidFill>
                  <a:srgbClr val="291B25"/>
                </a:solidFill>
                <a:latin typeface="Arbutus Slab"/>
                <a:ea typeface="Arbutus Slab"/>
                <a:cs typeface="Arbutus Slab"/>
                <a:sym typeface="Arbutus Slab"/>
              </a:rPr>
              <a:t> mechanical design</a:t>
            </a:r>
          </a:p>
          <a:p>
            <a:pPr algn="just">
              <a:lnSpc>
                <a:spcPts val="5179"/>
              </a:lnSpc>
            </a:pPr>
            <a:r>
              <a:rPr lang="en-US" sz="3699">
                <a:solidFill>
                  <a:srgbClr val="291B25"/>
                </a:solidFill>
                <a:latin typeface="Arbutus Slab"/>
                <a:ea typeface="Arbutus Slab"/>
                <a:cs typeface="Arbutus Slab"/>
                <a:sym typeface="Arbutus Slab"/>
              </a:rPr>
              <a:t>III. </a:t>
            </a:r>
            <a:r>
              <a:rPr lang="en-US" sz="3699">
                <a:solidFill>
                  <a:srgbClr val="291B25"/>
                </a:solidFill>
                <a:latin typeface="Arbutus Slab"/>
                <a:ea typeface="Arbutus Slab"/>
                <a:cs typeface="Arbutus Slab"/>
                <a:sym typeface="Arbutus Slab"/>
              </a:rPr>
              <a:t>Modeling</a:t>
            </a:r>
          </a:p>
          <a:p>
            <a:pPr algn="just">
              <a:lnSpc>
                <a:spcPts val="5179"/>
              </a:lnSpc>
            </a:pPr>
            <a:r>
              <a:rPr lang="en-US" sz="3699">
                <a:solidFill>
                  <a:srgbClr val="291B25"/>
                </a:solidFill>
                <a:latin typeface="Arbutus Slab"/>
                <a:ea typeface="Arbutus Slab"/>
                <a:cs typeface="Arbutus Slab"/>
                <a:sym typeface="Arbutus Slab"/>
              </a:rPr>
              <a:t>IV. C</a:t>
            </a:r>
            <a:r>
              <a:rPr lang="en-US" sz="3699">
                <a:solidFill>
                  <a:srgbClr val="291B25"/>
                </a:solidFill>
                <a:latin typeface="Arbutus Slab"/>
                <a:ea typeface="Arbutus Slab"/>
                <a:cs typeface="Arbutus Slab"/>
                <a:sym typeface="Arbutus Slab"/>
              </a:rPr>
              <a:t>ontrol</a:t>
            </a:r>
          </a:p>
          <a:p>
            <a:pPr algn="just">
              <a:lnSpc>
                <a:spcPts val="5179"/>
              </a:lnSpc>
            </a:pPr>
            <a:r>
              <a:rPr lang="en-US" sz="3699">
                <a:solidFill>
                  <a:srgbClr val="291B25"/>
                </a:solidFill>
                <a:latin typeface="Arbutus Slab"/>
                <a:ea typeface="Arbutus Slab"/>
                <a:cs typeface="Arbutus Slab"/>
                <a:sym typeface="Arbutus Slab"/>
              </a:rPr>
              <a:t>V.  Results</a:t>
            </a:r>
          </a:p>
          <a:p>
            <a:pPr algn="just">
              <a:lnSpc>
                <a:spcPts val="5179"/>
              </a:lnSpc>
            </a:pPr>
            <a:r>
              <a:rPr lang="en-US" sz="3699">
                <a:solidFill>
                  <a:srgbClr val="291B25"/>
                </a:solidFill>
                <a:latin typeface="Arbutus Slab"/>
                <a:ea typeface="Arbutus Slab"/>
                <a:cs typeface="Arbutus Slab"/>
                <a:sym typeface="Arbutus Slab"/>
              </a:rPr>
              <a:t>VI. </a:t>
            </a:r>
            <a:r>
              <a:rPr lang="en-US" sz="3699">
                <a:solidFill>
                  <a:srgbClr val="291B25"/>
                </a:solidFill>
                <a:latin typeface="Arbutus Slab"/>
                <a:ea typeface="Arbutus Slab"/>
                <a:cs typeface="Arbutus Slab"/>
                <a:sym typeface="Arbutus Slab"/>
              </a:rPr>
              <a:t>Conclusions and Future work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sp>
        <p:nvSpPr>
          <p:cNvPr name="Freeform 3" id="3"/>
          <p:cNvSpPr/>
          <p:nvPr/>
        </p:nvSpPr>
        <p:spPr>
          <a:xfrm flipH="false" flipV="false" rot="0">
            <a:off x="12751363" y="2430740"/>
            <a:ext cx="3109773" cy="3109773"/>
          </a:xfrm>
          <a:custGeom>
            <a:avLst/>
            <a:gdLst/>
            <a:ahLst/>
            <a:cxnLst/>
            <a:rect r="r" b="b" t="t" l="l"/>
            <a:pathLst>
              <a:path h="3109773" w="3109773">
                <a:moveTo>
                  <a:pt x="0" y="0"/>
                </a:moveTo>
                <a:lnTo>
                  <a:pt x="3109773" y="0"/>
                </a:lnTo>
                <a:lnTo>
                  <a:pt x="3109773" y="3109773"/>
                </a:lnTo>
                <a:lnTo>
                  <a:pt x="0" y="3109773"/>
                </a:lnTo>
                <a:lnTo>
                  <a:pt x="0" y="0"/>
                </a:lnTo>
                <a:close/>
              </a:path>
            </a:pathLst>
          </a:custGeom>
          <a:blipFill>
            <a:blip r:embed="rId3"/>
            <a:stretch>
              <a:fillRect l="0" t="0" r="0" b="0"/>
            </a:stretch>
          </a:blipFill>
        </p:spPr>
      </p:sp>
      <p:sp>
        <p:nvSpPr>
          <p:cNvPr name="Freeform 4" id="4"/>
          <p:cNvSpPr/>
          <p:nvPr/>
        </p:nvSpPr>
        <p:spPr>
          <a:xfrm flipH="false" flipV="false" rot="0">
            <a:off x="12603419" y="6146867"/>
            <a:ext cx="3405661" cy="3405661"/>
          </a:xfrm>
          <a:custGeom>
            <a:avLst/>
            <a:gdLst/>
            <a:ahLst/>
            <a:cxnLst/>
            <a:rect r="r" b="b" t="t" l="l"/>
            <a:pathLst>
              <a:path h="3405661" w="3405661">
                <a:moveTo>
                  <a:pt x="0" y="0"/>
                </a:moveTo>
                <a:lnTo>
                  <a:pt x="3405661" y="0"/>
                </a:lnTo>
                <a:lnTo>
                  <a:pt x="3405661" y="3405661"/>
                </a:lnTo>
                <a:lnTo>
                  <a:pt x="0" y="3405661"/>
                </a:lnTo>
                <a:lnTo>
                  <a:pt x="0" y="0"/>
                </a:lnTo>
                <a:close/>
              </a:path>
            </a:pathLst>
          </a:custGeom>
          <a:blipFill>
            <a:blip r:embed="rId4"/>
            <a:stretch>
              <a:fillRect l="0" t="0" r="0" b="0"/>
            </a:stretch>
          </a:blipFill>
        </p:spPr>
      </p:sp>
      <p:grpSp>
        <p:nvGrpSpPr>
          <p:cNvPr name="Group 5" id="5"/>
          <p:cNvGrpSpPr/>
          <p:nvPr/>
        </p:nvGrpSpPr>
        <p:grpSpPr>
          <a:xfrm rot="0">
            <a:off x="1816294" y="4520908"/>
            <a:ext cx="9786627" cy="2344680"/>
            <a:chOff x="0" y="0"/>
            <a:chExt cx="2577548" cy="617529"/>
          </a:xfrm>
        </p:grpSpPr>
        <p:sp>
          <p:nvSpPr>
            <p:cNvPr name="Freeform 6" id="6"/>
            <p:cNvSpPr/>
            <p:nvPr/>
          </p:nvSpPr>
          <p:spPr>
            <a:xfrm flipH="false" flipV="false" rot="0">
              <a:off x="0" y="0"/>
              <a:ext cx="2577548" cy="617529"/>
            </a:xfrm>
            <a:custGeom>
              <a:avLst/>
              <a:gdLst/>
              <a:ahLst/>
              <a:cxnLst/>
              <a:rect r="r" b="b" t="t" l="l"/>
              <a:pathLst>
                <a:path h="617529" w="2577548">
                  <a:moveTo>
                    <a:pt x="40345" y="0"/>
                  </a:moveTo>
                  <a:lnTo>
                    <a:pt x="2537203" y="0"/>
                  </a:lnTo>
                  <a:cubicBezTo>
                    <a:pt x="2559485" y="0"/>
                    <a:pt x="2577548" y="18063"/>
                    <a:pt x="2577548" y="40345"/>
                  </a:cubicBezTo>
                  <a:lnTo>
                    <a:pt x="2577548" y="577184"/>
                  </a:lnTo>
                  <a:cubicBezTo>
                    <a:pt x="2577548" y="599466"/>
                    <a:pt x="2559485" y="617529"/>
                    <a:pt x="2537203" y="617529"/>
                  </a:cubicBezTo>
                  <a:lnTo>
                    <a:pt x="40345" y="617529"/>
                  </a:lnTo>
                  <a:cubicBezTo>
                    <a:pt x="18063" y="617529"/>
                    <a:pt x="0" y="599466"/>
                    <a:pt x="0" y="577184"/>
                  </a:cubicBezTo>
                  <a:lnTo>
                    <a:pt x="0" y="40345"/>
                  </a:lnTo>
                  <a:cubicBezTo>
                    <a:pt x="0" y="18063"/>
                    <a:pt x="18063" y="0"/>
                    <a:pt x="40345" y="0"/>
                  </a:cubicBezTo>
                  <a:close/>
                </a:path>
              </a:pathLst>
            </a:custGeom>
            <a:solidFill>
              <a:srgbClr val="000000">
                <a:alpha val="0"/>
              </a:srgbClr>
            </a:solidFill>
            <a:ln w="38100" cap="rnd">
              <a:solidFill>
                <a:srgbClr val="291B25"/>
              </a:solidFill>
              <a:prstDash val="solid"/>
              <a:round/>
            </a:ln>
          </p:spPr>
        </p:sp>
        <p:sp>
          <p:nvSpPr>
            <p:cNvPr name="TextBox 7" id="7"/>
            <p:cNvSpPr txBox="true"/>
            <p:nvPr/>
          </p:nvSpPr>
          <p:spPr>
            <a:xfrm>
              <a:off x="0" y="-47625"/>
              <a:ext cx="2577548" cy="665154"/>
            </a:xfrm>
            <a:prstGeom prst="rect">
              <a:avLst/>
            </a:prstGeom>
          </p:spPr>
          <p:txBody>
            <a:bodyPr anchor="ctr" rtlCol="false" tIns="50800" lIns="50800" bIns="50800" rIns="50800"/>
            <a:lstStyle/>
            <a:p>
              <a:pPr algn="ctr">
                <a:lnSpc>
                  <a:spcPts val="3499"/>
                </a:lnSpc>
              </a:pPr>
              <a:r>
                <a:rPr lang="en-US" sz="2499">
                  <a:solidFill>
                    <a:srgbClr val="FFFFFF"/>
                  </a:solidFill>
                  <a:latin typeface="Arbutus Slab"/>
                  <a:ea typeface="Arbutus Slab"/>
                  <a:cs typeface="Arbutus Slab"/>
                  <a:sym typeface="Arbutus Slab"/>
                </a:rPr>
                <a:t>f</a:t>
              </a:r>
            </a:p>
          </p:txBody>
        </p:sp>
      </p:grpSp>
      <p:grpSp>
        <p:nvGrpSpPr>
          <p:cNvPr name="Group 8" id="8"/>
          <p:cNvGrpSpPr/>
          <p:nvPr/>
        </p:nvGrpSpPr>
        <p:grpSpPr>
          <a:xfrm rot="0">
            <a:off x="6219099" y="3580090"/>
            <a:ext cx="981018" cy="892477"/>
            <a:chOff x="0" y="0"/>
            <a:chExt cx="670096" cy="609617"/>
          </a:xfrm>
        </p:grpSpPr>
        <p:sp>
          <p:nvSpPr>
            <p:cNvPr name="Freeform 9" id="9"/>
            <p:cNvSpPr/>
            <p:nvPr/>
          </p:nvSpPr>
          <p:spPr>
            <a:xfrm flipH="false" flipV="false" rot="0">
              <a:off x="0" y="0"/>
              <a:ext cx="670096" cy="609617"/>
            </a:xfrm>
            <a:custGeom>
              <a:avLst/>
              <a:gdLst/>
              <a:ahLst/>
              <a:cxnLst/>
              <a:rect r="r" b="b" t="t" l="l"/>
              <a:pathLst>
                <a:path h="609617" w="670096">
                  <a:moveTo>
                    <a:pt x="335048" y="609617"/>
                  </a:moveTo>
                  <a:lnTo>
                    <a:pt x="0" y="203217"/>
                  </a:lnTo>
                  <a:lnTo>
                    <a:pt x="203200" y="203217"/>
                  </a:lnTo>
                  <a:lnTo>
                    <a:pt x="203200" y="0"/>
                  </a:lnTo>
                  <a:lnTo>
                    <a:pt x="466896" y="0"/>
                  </a:lnTo>
                  <a:lnTo>
                    <a:pt x="466896" y="203217"/>
                  </a:lnTo>
                  <a:lnTo>
                    <a:pt x="670096" y="203217"/>
                  </a:lnTo>
                  <a:lnTo>
                    <a:pt x="335048" y="609617"/>
                  </a:lnTo>
                  <a:close/>
                </a:path>
              </a:pathLst>
            </a:custGeom>
            <a:solidFill>
              <a:srgbClr val="291B25"/>
            </a:solidFill>
          </p:spPr>
        </p:sp>
        <p:sp>
          <p:nvSpPr>
            <p:cNvPr name="TextBox 10" id="10"/>
            <p:cNvSpPr txBox="true"/>
            <p:nvPr/>
          </p:nvSpPr>
          <p:spPr>
            <a:xfrm>
              <a:off x="203200" y="-47625"/>
              <a:ext cx="263696" cy="555642"/>
            </a:xfrm>
            <a:prstGeom prst="rect">
              <a:avLst/>
            </a:prstGeom>
          </p:spPr>
          <p:txBody>
            <a:bodyPr anchor="ctr" rtlCol="false" tIns="50800" lIns="50800" bIns="50800" rIns="50800"/>
            <a:lstStyle/>
            <a:p>
              <a:pPr algn="ctr">
                <a:lnSpc>
                  <a:spcPts val="3499"/>
                </a:lnSpc>
              </a:pPr>
            </a:p>
          </p:txBody>
        </p:sp>
      </p:grpSp>
      <p:sp>
        <p:nvSpPr>
          <p:cNvPr name="TextBox 11" id="11"/>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 Introduction</a:t>
            </a:r>
          </a:p>
        </p:txBody>
      </p:sp>
      <p:sp>
        <p:nvSpPr>
          <p:cNvPr name="TextBox 12" id="12"/>
          <p:cNvSpPr txBox="true"/>
          <p:nvPr/>
        </p:nvSpPr>
        <p:spPr>
          <a:xfrm rot="0">
            <a:off x="1786327" y="1995765"/>
            <a:ext cx="10538397" cy="137477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In modern industrial environments, humans and robots work together.</a:t>
            </a:r>
          </a:p>
        </p:txBody>
      </p:sp>
      <p:sp>
        <p:nvSpPr>
          <p:cNvPr name="TextBox 13" id="13"/>
          <p:cNvSpPr txBox="true"/>
          <p:nvPr/>
        </p:nvSpPr>
        <p:spPr>
          <a:xfrm rot="0">
            <a:off x="15837264" y="5118238"/>
            <a:ext cx="497443"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Arbutus Slab"/>
                <a:ea typeface="Arbutus Slab"/>
                <a:cs typeface="Arbutus Slab"/>
                <a:sym typeface="Arbutus Slab"/>
              </a:rPr>
              <a:t>[A]</a:t>
            </a:r>
          </a:p>
        </p:txBody>
      </p:sp>
      <p:sp>
        <p:nvSpPr>
          <p:cNvPr name="TextBox 14" id="14"/>
          <p:cNvSpPr txBox="true"/>
          <p:nvPr/>
        </p:nvSpPr>
        <p:spPr>
          <a:xfrm rot="0">
            <a:off x="1786327" y="7168144"/>
            <a:ext cx="10538397" cy="137477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Mobile robots should have a small footprint for safety and space optimization reasons.</a:t>
            </a:r>
          </a:p>
        </p:txBody>
      </p:sp>
      <p:sp>
        <p:nvSpPr>
          <p:cNvPr name="TextBox 15" id="15"/>
          <p:cNvSpPr txBox="true"/>
          <p:nvPr/>
        </p:nvSpPr>
        <p:spPr>
          <a:xfrm rot="0">
            <a:off x="15996459" y="8836025"/>
            <a:ext cx="463629"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Arbutus Slab"/>
                <a:ea typeface="Arbutus Slab"/>
                <a:cs typeface="Arbutus Slab"/>
                <a:sym typeface="Arbutus Slab"/>
              </a:rPr>
              <a:t>[B]</a:t>
            </a:r>
          </a:p>
        </p:txBody>
      </p:sp>
      <p:sp>
        <p:nvSpPr>
          <p:cNvPr name="TextBox 16" id="16"/>
          <p:cNvSpPr txBox="true"/>
          <p:nvPr/>
        </p:nvSpPr>
        <p:spPr>
          <a:xfrm rot="0">
            <a:off x="1890393" y="4620098"/>
            <a:ext cx="9638431" cy="2079625"/>
          </a:xfrm>
          <a:prstGeom prst="rect">
            <a:avLst/>
          </a:prstGeom>
        </p:spPr>
        <p:txBody>
          <a:bodyPr anchor="t" rtlCol="false" tIns="0" lIns="0" bIns="0" rIns="0">
            <a:spAutoFit/>
          </a:bodyPr>
          <a:lstStyle/>
          <a:p>
            <a:pPr algn="l" marL="863599" indent="-431800" lvl="1">
              <a:lnSpc>
                <a:spcPts val="5599"/>
              </a:lnSpc>
              <a:buFont typeface="Arial"/>
              <a:buChar char="•"/>
            </a:pPr>
            <a:r>
              <a:rPr lang="en-US" sz="3999" spc="-79">
                <a:solidFill>
                  <a:srgbClr val="291B25"/>
                </a:solidFill>
                <a:latin typeface="Arbutus Slab"/>
                <a:ea typeface="Arbutus Slab"/>
                <a:cs typeface="Arbutus Slab"/>
                <a:sym typeface="Arbutus Slab"/>
              </a:rPr>
              <a:t>Labor shortage in industrialized countries.</a:t>
            </a:r>
          </a:p>
          <a:p>
            <a:pPr algn="l" marL="863599" indent="-431800" lvl="1">
              <a:lnSpc>
                <a:spcPts val="5599"/>
              </a:lnSpc>
              <a:buFont typeface="Arial"/>
              <a:buChar char="•"/>
            </a:pPr>
            <a:r>
              <a:rPr lang="en-US" sz="3999" spc="-79">
                <a:solidFill>
                  <a:srgbClr val="291B25"/>
                </a:solidFill>
                <a:latin typeface="Arbutus Slab"/>
                <a:ea typeface="Arbutus Slab"/>
                <a:cs typeface="Arbutus Slab"/>
                <a:sym typeface="Arbutus Slab"/>
              </a:rPr>
              <a:t>High-risk tasks executed by robots.</a:t>
            </a:r>
          </a:p>
        </p:txBody>
      </p:sp>
      <p:grpSp>
        <p:nvGrpSpPr>
          <p:cNvPr name="Group 17" id="17"/>
          <p:cNvGrpSpPr/>
          <p:nvPr/>
        </p:nvGrpSpPr>
        <p:grpSpPr>
          <a:xfrm rot="5400000">
            <a:off x="8776764" y="775764"/>
            <a:ext cx="734472" cy="18288000"/>
            <a:chOff x="0" y="0"/>
            <a:chExt cx="193441" cy="4816593"/>
          </a:xfrm>
        </p:grpSpPr>
        <p:sp>
          <p:nvSpPr>
            <p:cNvPr name="Freeform 18" id="18"/>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19" id="19"/>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20" id="20"/>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2</a:t>
            </a:r>
          </a:p>
        </p:txBody>
      </p:sp>
      <p:sp>
        <p:nvSpPr>
          <p:cNvPr name="TextBox 21" id="21"/>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22" id="22"/>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sp>
        <p:nvSpPr>
          <p:cNvPr name="Freeform 3" id="3"/>
          <p:cNvSpPr/>
          <p:nvPr/>
        </p:nvSpPr>
        <p:spPr>
          <a:xfrm flipH="false" flipV="false" rot="0">
            <a:off x="4188817" y="6274068"/>
            <a:ext cx="2857782" cy="2857782"/>
          </a:xfrm>
          <a:custGeom>
            <a:avLst/>
            <a:gdLst/>
            <a:ahLst/>
            <a:cxnLst/>
            <a:rect r="r" b="b" t="t" l="l"/>
            <a:pathLst>
              <a:path h="2857782" w="2857782">
                <a:moveTo>
                  <a:pt x="0" y="0"/>
                </a:moveTo>
                <a:lnTo>
                  <a:pt x="2857782" y="0"/>
                </a:lnTo>
                <a:lnTo>
                  <a:pt x="2857782" y="2857782"/>
                </a:lnTo>
                <a:lnTo>
                  <a:pt x="0" y="2857782"/>
                </a:lnTo>
                <a:lnTo>
                  <a:pt x="0" y="0"/>
                </a:lnTo>
                <a:close/>
              </a:path>
            </a:pathLst>
          </a:custGeom>
          <a:blipFill>
            <a:blip r:embed="rId3"/>
            <a:stretch>
              <a:fillRect l="0" t="0" r="0" b="0"/>
            </a:stretch>
          </a:blipFill>
        </p:spPr>
      </p:sp>
      <p:grpSp>
        <p:nvGrpSpPr>
          <p:cNvPr name="Group 4" id="4"/>
          <p:cNvGrpSpPr/>
          <p:nvPr/>
        </p:nvGrpSpPr>
        <p:grpSpPr>
          <a:xfrm rot="5400000">
            <a:off x="8776764" y="775764"/>
            <a:ext cx="734472" cy="18288000"/>
            <a:chOff x="0" y="0"/>
            <a:chExt cx="193441" cy="4816593"/>
          </a:xfrm>
        </p:grpSpPr>
        <p:sp>
          <p:nvSpPr>
            <p:cNvPr name="Freeform 5" id="5"/>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6" id="6"/>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false" flipV="false" rot="0">
            <a:off x="10665820" y="1839638"/>
            <a:ext cx="4853065" cy="7104887"/>
          </a:xfrm>
          <a:custGeom>
            <a:avLst/>
            <a:gdLst/>
            <a:ahLst/>
            <a:cxnLst/>
            <a:rect r="r" b="b" t="t" l="l"/>
            <a:pathLst>
              <a:path h="7104887" w="4853065">
                <a:moveTo>
                  <a:pt x="0" y="0"/>
                </a:moveTo>
                <a:lnTo>
                  <a:pt x="4853064" y="0"/>
                </a:lnTo>
                <a:lnTo>
                  <a:pt x="4853064" y="7104887"/>
                </a:lnTo>
                <a:lnTo>
                  <a:pt x="0" y="7104887"/>
                </a:lnTo>
                <a:lnTo>
                  <a:pt x="0" y="0"/>
                </a:lnTo>
                <a:close/>
              </a:path>
            </a:pathLst>
          </a:custGeom>
          <a:blipFill>
            <a:blip r:embed="rId4"/>
            <a:stretch>
              <a:fillRect l="0" t="0" r="0" b="0"/>
            </a:stretch>
          </a:blipFill>
        </p:spPr>
      </p:sp>
      <p:sp>
        <p:nvSpPr>
          <p:cNvPr name="TextBox 8" id="8"/>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 Introduction</a:t>
            </a:r>
          </a:p>
        </p:txBody>
      </p:sp>
      <p:sp>
        <p:nvSpPr>
          <p:cNvPr name="TextBox 9" id="9"/>
          <p:cNvSpPr txBox="true"/>
          <p:nvPr/>
        </p:nvSpPr>
        <p:spPr>
          <a:xfrm rot="0">
            <a:off x="1786327" y="2364065"/>
            <a:ext cx="7662762" cy="34893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Two-Wheeled Forklift Robot:</a:t>
            </a:r>
          </a:p>
          <a:p>
            <a:pPr algn="l" marL="863599" indent="-431800" lvl="1">
              <a:lnSpc>
                <a:spcPts val="5599"/>
              </a:lnSpc>
              <a:buFont typeface="Arial"/>
              <a:buChar char="•"/>
            </a:pPr>
            <a:r>
              <a:rPr lang="en-US" sz="3999" spc="-79">
                <a:solidFill>
                  <a:srgbClr val="291B25"/>
                </a:solidFill>
                <a:latin typeface="Arbutus Slab"/>
                <a:ea typeface="Arbutus Slab"/>
                <a:cs typeface="Arbutus Slab"/>
                <a:sym typeface="Arbutus Slab"/>
              </a:rPr>
              <a:t>Aimed for load movement in warehouses.</a:t>
            </a:r>
          </a:p>
          <a:p>
            <a:pPr algn="l" marL="863599" indent="-431800" lvl="1">
              <a:lnSpc>
                <a:spcPts val="5599"/>
              </a:lnSpc>
              <a:buFont typeface="Arial"/>
              <a:buChar char="•"/>
            </a:pPr>
            <a:r>
              <a:rPr lang="en-US" sz="3999" spc="-79">
                <a:solidFill>
                  <a:srgbClr val="291B25"/>
                </a:solidFill>
                <a:latin typeface="Arbutus Slab"/>
                <a:ea typeface="Arbutus Slab"/>
                <a:cs typeface="Arbutus Slab"/>
                <a:sym typeface="Arbutus Slab"/>
              </a:rPr>
              <a:t>Self-balanced mobile robot.</a:t>
            </a:r>
          </a:p>
          <a:p>
            <a:pPr algn="l" marL="863599" indent="-431800" lvl="1">
              <a:lnSpc>
                <a:spcPts val="5599"/>
              </a:lnSpc>
              <a:buFont typeface="Arial"/>
              <a:buChar char="•"/>
            </a:pPr>
            <a:r>
              <a:rPr lang="en-US" sz="3999" spc="-79">
                <a:solidFill>
                  <a:srgbClr val="291B25"/>
                </a:solidFill>
                <a:latin typeface="Arbutus Slab"/>
                <a:ea typeface="Arbutus Slab"/>
                <a:cs typeface="Arbutus Slab"/>
                <a:sym typeface="Arbutus Slab"/>
              </a:rPr>
              <a:t>Small footprint.</a:t>
            </a:r>
          </a:p>
        </p:txBody>
      </p:sp>
      <p:sp>
        <p:nvSpPr>
          <p:cNvPr name="TextBox 10" id="10"/>
          <p:cNvSpPr txBox="true"/>
          <p:nvPr/>
        </p:nvSpPr>
        <p:spPr>
          <a:xfrm rot="0">
            <a:off x="7046599" y="8709575"/>
            <a:ext cx="483513"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Arbutus Slab"/>
                <a:ea typeface="Arbutus Slab"/>
                <a:cs typeface="Arbutus Slab"/>
                <a:sym typeface="Arbutus Slab"/>
              </a:rPr>
              <a:t>[C]</a:t>
            </a:r>
          </a:p>
        </p:txBody>
      </p:sp>
      <p:sp>
        <p:nvSpPr>
          <p:cNvPr name="TextBox 11" id="11"/>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3</a:t>
            </a:r>
          </a:p>
        </p:txBody>
      </p:sp>
      <p:sp>
        <p:nvSpPr>
          <p:cNvPr name="TextBox 12" id="12"/>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3" id="13"/>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grpSp>
        <p:nvGrpSpPr>
          <p:cNvPr name="Group 3" id="3"/>
          <p:cNvGrpSpPr/>
          <p:nvPr/>
        </p:nvGrpSpPr>
        <p:grpSpPr>
          <a:xfrm rot="5400000">
            <a:off x="8776764" y="775764"/>
            <a:ext cx="734472" cy="18288000"/>
            <a:chOff x="0" y="0"/>
            <a:chExt cx="193441" cy="4816593"/>
          </a:xfrm>
        </p:grpSpPr>
        <p:sp>
          <p:nvSpPr>
            <p:cNvPr name="Freeform 4" id="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5" id="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pic>
        <p:nvPicPr>
          <p:cNvPr name="Picture 6" id="6">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5950813" y="2376431"/>
            <a:ext cx="6386374" cy="6881869"/>
          </a:xfrm>
          <a:prstGeom prst="rect">
            <a:avLst/>
          </a:prstGeom>
        </p:spPr>
      </p:pic>
      <p:sp>
        <p:nvSpPr>
          <p:cNvPr name="TextBox 7" id="7"/>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II. Conceptual mechanical design</a:t>
            </a:r>
          </a:p>
        </p:txBody>
      </p:sp>
      <p:sp>
        <p:nvSpPr>
          <p:cNvPr name="TextBox 8" id="8"/>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4</a:t>
            </a:r>
          </a:p>
        </p:txBody>
      </p:sp>
      <p:sp>
        <p:nvSpPr>
          <p:cNvPr name="TextBox 9" id="9"/>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0" id="10"/>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timing>
    <p:tnLst>
      <p:par>
        <p:cTn dur="indefinite" restart="never" nodeType="tmRoot">
          <p:childTnLst>
            <p:video>
              <p:cMediaNode vol="100000">
                <p:cTn fill="hold" display="false">
                  <p:stCondLst>
                    <p:cond delay="indefinite"/>
                  </p:stCondLst>
                </p:cTn>
                <p:tgtEl>
                  <p:spTgt spid="6"/>
                </p:tgtEl>
              </p:cMediaNode>
            </p:video>
          </p:childTnLst>
        </p:cTn>
      </p:par>
    </p:tnLst>
  </p:timing>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grpSp>
        <p:nvGrpSpPr>
          <p:cNvPr name="Group 3" id="3"/>
          <p:cNvGrpSpPr/>
          <p:nvPr/>
        </p:nvGrpSpPr>
        <p:grpSpPr>
          <a:xfrm rot="5400000">
            <a:off x="8776764" y="775764"/>
            <a:ext cx="734472" cy="18288000"/>
            <a:chOff x="0" y="0"/>
            <a:chExt cx="193441" cy="4816593"/>
          </a:xfrm>
        </p:grpSpPr>
        <p:sp>
          <p:nvSpPr>
            <p:cNvPr name="Freeform 4" id="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5" id="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5027499" y="3261414"/>
            <a:ext cx="8233002" cy="5917470"/>
          </a:xfrm>
          <a:custGeom>
            <a:avLst/>
            <a:gdLst/>
            <a:ahLst/>
            <a:cxnLst/>
            <a:rect r="r" b="b" t="t" l="l"/>
            <a:pathLst>
              <a:path h="5917470" w="8233002">
                <a:moveTo>
                  <a:pt x="0" y="0"/>
                </a:moveTo>
                <a:lnTo>
                  <a:pt x="8233002" y="0"/>
                </a:lnTo>
                <a:lnTo>
                  <a:pt x="8233002" y="5917471"/>
                </a:lnTo>
                <a:lnTo>
                  <a:pt x="0" y="5917471"/>
                </a:lnTo>
                <a:lnTo>
                  <a:pt x="0" y="0"/>
                </a:lnTo>
                <a:close/>
              </a:path>
            </a:pathLst>
          </a:custGeom>
          <a:blipFill>
            <a:blip r:embed="rId3"/>
            <a:stretch>
              <a:fillRect l="0" t="0" r="0" b="0"/>
            </a:stretch>
          </a:blipFill>
        </p:spPr>
      </p:sp>
      <p:grpSp>
        <p:nvGrpSpPr>
          <p:cNvPr name="Group 7" id="7"/>
          <p:cNvGrpSpPr/>
          <p:nvPr/>
        </p:nvGrpSpPr>
        <p:grpSpPr>
          <a:xfrm rot="0">
            <a:off x="10404686" y="3535682"/>
            <a:ext cx="716264" cy="1985557"/>
            <a:chOff x="0" y="0"/>
            <a:chExt cx="188646" cy="522945"/>
          </a:xfrm>
        </p:grpSpPr>
        <p:sp>
          <p:nvSpPr>
            <p:cNvPr name="Freeform 8" id="8"/>
            <p:cNvSpPr/>
            <p:nvPr/>
          </p:nvSpPr>
          <p:spPr>
            <a:xfrm flipH="false" flipV="false" rot="0">
              <a:off x="0" y="0"/>
              <a:ext cx="188646" cy="522945"/>
            </a:xfrm>
            <a:custGeom>
              <a:avLst/>
              <a:gdLst/>
              <a:ahLst/>
              <a:cxnLst/>
              <a:rect r="r" b="b" t="t" l="l"/>
              <a:pathLst>
                <a:path h="522945" w="188646">
                  <a:moveTo>
                    <a:pt x="0" y="0"/>
                  </a:moveTo>
                  <a:lnTo>
                    <a:pt x="188646" y="0"/>
                  </a:lnTo>
                  <a:lnTo>
                    <a:pt x="188646" y="522945"/>
                  </a:lnTo>
                  <a:lnTo>
                    <a:pt x="0" y="522945"/>
                  </a:lnTo>
                  <a:close/>
                </a:path>
              </a:pathLst>
            </a:custGeom>
            <a:solidFill>
              <a:srgbClr val="0097B2">
                <a:alpha val="33725"/>
              </a:srgbClr>
            </a:solidFill>
          </p:spPr>
        </p:sp>
        <p:sp>
          <p:nvSpPr>
            <p:cNvPr name="TextBox 9" id="9"/>
            <p:cNvSpPr txBox="true"/>
            <p:nvPr/>
          </p:nvSpPr>
          <p:spPr>
            <a:xfrm>
              <a:off x="0" y="-47625"/>
              <a:ext cx="188646" cy="570570"/>
            </a:xfrm>
            <a:prstGeom prst="rect">
              <a:avLst/>
            </a:prstGeom>
          </p:spPr>
          <p:txBody>
            <a:bodyPr anchor="ctr" rtlCol="false" tIns="50800" lIns="50800" bIns="50800" rIns="50800"/>
            <a:lstStyle/>
            <a:p>
              <a:pPr algn="ctr">
                <a:lnSpc>
                  <a:spcPts val="3499"/>
                </a:lnSpc>
              </a:pPr>
            </a:p>
          </p:txBody>
        </p:sp>
      </p:grpSp>
      <p:sp>
        <p:nvSpPr>
          <p:cNvPr name="TextBox 10" id="10"/>
          <p:cNvSpPr txBox="true"/>
          <p:nvPr/>
        </p:nvSpPr>
        <p:spPr>
          <a:xfrm rot="0">
            <a:off x="1712962" y="2209800"/>
            <a:ext cx="14862077"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Ball screw linear actuator ETH2-17-L5-350-BC-M40B-E5N5L</a:t>
            </a:r>
          </a:p>
        </p:txBody>
      </p:sp>
      <p:sp>
        <p:nvSpPr>
          <p:cNvPr name="TextBox 11" id="11"/>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5</a:t>
            </a:r>
          </a:p>
        </p:txBody>
      </p:sp>
      <p:sp>
        <p:nvSpPr>
          <p:cNvPr name="TextBox 12" id="12"/>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3" id="13"/>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
        <p:nvSpPr>
          <p:cNvPr name="TextBox 14" id="14"/>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II. Conceptual mechanical design</a:t>
            </a:r>
          </a:p>
        </p:txBody>
      </p:sp>
      <p:grpSp>
        <p:nvGrpSpPr>
          <p:cNvPr name="Group 15" id="15"/>
          <p:cNvGrpSpPr/>
          <p:nvPr/>
        </p:nvGrpSpPr>
        <p:grpSpPr>
          <a:xfrm rot="0">
            <a:off x="10404686" y="5814965"/>
            <a:ext cx="716264" cy="845356"/>
            <a:chOff x="0" y="0"/>
            <a:chExt cx="188646" cy="222645"/>
          </a:xfrm>
        </p:grpSpPr>
        <p:sp>
          <p:nvSpPr>
            <p:cNvPr name="Freeform 16" id="16"/>
            <p:cNvSpPr/>
            <p:nvPr/>
          </p:nvSpPr>
          <p:spPr>
            <a:xfrm flipH="false" flipV="false" rot="0">
              <a:off x="0" y="0"/>
              <a:ext cx="188646" cy="222645"/>
            </a:xfrm>
            <a:custGeom>
              <a:avLst/>
              <a:gdLst/>
              <a:ahLst/>
              <a:cxnLst/>
              <a:rect r="r" b="b" t="t" l="l"/>
              <a:pathLst>
                <a:path h="222645" w="188646">
                  <a:moveTo>
                    <a:pt x="0" y="0"/>
                  </a:moveTo>
                  <a:lnTo>
                    <a:pt x="188646" y="0"/>
                  </a:lnTo>
                  <a:lnTo>
                    <a:pt x="188646" y="222645"/>
                  </a:lnTo>
                  <a:lnTo>
                    <a:pt x="0" y="222645"/>
                  </a:lnTo>
                  <a:close/>
                </a:path>
              </a:pathLst>
            </a:custGeom>
            <a:solidFill>
              <a:srgbClr val="0097B2">
                <a:alpha val="33725"/>
              </a:srgbClr>
            </a:solidFill>
          </p:spPr>
        </p:sp>
        <p:sp>
          <p:nvSpPr>
            <p:cNvPr name="TextBox 17" id="17"/>
            <p:cNvSpPr txBox="true"/>
            <p:nvPr/>
          </p:nvSpPr>
          <p:spPr>
            <a:xfrm>
              <a:off x="0" y="-47625"/>
              <a:ext cx="188646" cy="270270"/>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pic>
        <p:nvPicPr>
          <p:cNvPr name="Picture 3" id="3"/>
          <p:cNvPicPr>
            <a:picLocks noChangeAspect="true"/>
          </p:cNvPicPr>
          <p:nvPr/>
        </p:nvPicPr>
        <p:blipFill>
          <a:blip r:embed="rId3"/>
          <a:stretch>
            <a:fillRect/>
          </a:stretch>
        </p:blipFill>
        <p:spPr>
          <a:xfrm rot="0">
            <a:off x="9468576" y="5248723"/>
            <a:ext cx="7496845" cy="3268586"/>
          </a:xfrm>
          <a:prstGeom prst="rect">
            <a:avLst/>
          </a:prstGeom>
        </p:spPr>
      </p:pic>
      <p:grpSp>
        <p:nvGrpSpPr>
          <p:cNvPr name="Group 4" id="4"/>
          <p:cNvGrpSpPr/>
          <p:nvPr/>
        </p:nvGrpSpPr>
        <p:grpSpPr>
          <a:xfrm rot="5400000">
            <a:off x="8776764" y="775764"/>
            <a:ext cx="734472" cy="18288000"/>
            <a:chOff x="0" y="0"/>
            <a:chExt cx="193441" cy="4816593"/>
          </a:xfrm>
        </p:grpSpPr>
        <p:sp>
          <p:nvSpPr>
            <p:cNvPr name="Freeform 5" id="5"/>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6" id="6"/>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false" flipV="false" rot="0">
            <a:off x="1028700" y="2183472"/>
            <a:ext cx="6692950" cy="6783273"/>
          </a:xfrm>
          <a:custGeom>
            <a:avLst/>
            <a:gdLst/>
            <a:ahLst/>
            <a:cxnLst/>
            <a:rect r="r" b="b" t="t" l="l"/>
            <a:pathLst>
              <a:path h="6783273" w="6692950">
                <a:moveTo>
                  <a:pt x="0" y="0"/>
                </a:moveTo>
                <a:lnTo>
                  <a:pt x="6692950" y="0"/>
                </a:lnTo>
                <a:lnTo>
                  <a:pt x="6692950" y="6783273"/>
                </a:lnTo>
                <a:lnTo>
                  <a:pt x="0" y="6783273"/>
                </a:lnTo>
                <a:lnTo>
                  <a:pt x="0" y="0"/>
                </a:lnTo>
                <a:close/>
              </a:path>
            </a:pathLst>
          </a:custGeom>
          <a:blipFill>
            <a:blip r:embed="rId4"/>
            <a:stretch>
              <a:fillRect l="0" t="0" r="0" b="0"/>
            </a:stretch>
          </a:blipFill>
        </p:spPr>
      </p:sp>
      <p:sp>
        <p:nvSpPr>
          <p:cNvPr name="TextBox 8" id="8"/>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III. Modeling</a:t>
            </a:r>
          </a:p>
        </p:txBody>
      </p:sp>
      <p:sp>
        <p:nvSpPr>
          <p:cNvPr name="TextBox 9" id="9"/>
          <p:cNvSpPr txBox="true"/>
          <p:nvPr/>
        </p:nvSpPr>
        <p:spPr>
          <a:xfrm rot="0">
            <a:off x="8979025" y="1815172"/>
            <a:ext cx="7662762"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Kinematics:</a:t>
            </a:r>
          </a:p>
        </p:txBody>
      </p:sp>
      <p:sp>
        <p:nvSpPr>
          <p:cNvPr name="TextBox 10" id="10"/>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6</a:t>
            </a:r>
          </a:p>
        </p:txBody>
      </p:sp>
      <p:sp>
        <p:nvSpPr>
          <p:cNvPr name="TextBox 11" id="11"/>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2" id="12"/>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pic>
        <p:nvPicPr>
          <p:cNvPr name="Picture 13" id="13"/>
          <p:cNvPicPr>
            <a:picLocks noChangeAspect="true"/>
          </p:cNvPicPr>
          <p:nvPr/>
        </p:nvPicPr>
        <p:blipFill>
          <a:blip r:embed="rId5"/>
          <a:stretch>
            <a:fillRect/>
          </a:stretch>
        </p:blipFill>
        <p:spPr>
          <a:xfrm rot="0">
            <a:off x="11312164" y="4408680"/>
            <a:ext cx="3809670" cy="1277927"/>
          </a:xfrm>
          <a:prstGeom prst="rect">
            <a:avLst/>
          </a:prstGeom>
        </p:spPr>
      </p:pic>
      <p:pic>
        <p:nvPicPr>
          <p:cNvPr name="Picture 14" id="14"/>
          <p:cNvPicPr>
            <a:picLocks noChangeAspect="true"/>
          </p:cNvPicPr>
          <p:nvPr/>
        </p:nvPicPr>
        <p:blipFill>
          <a:blip r:embed="rId6"/>
          <a:stretch>
            <a:fillRect/>
          </a:stretch>
        </p:blipFill>
        <p:spPr>
          <a:xfrm rot="0">
            <a:off x="8716095" y="2328538"/>
            <a:ext cx="9001807" cy="2557214"/>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grpSp>
        <p:nvGrpSpPr>
          <p:cNvPr name="Group 3" id="3"/>
          <p:cNvGrpSpPr/>
          <p:nvPr/>
        </p:nvGrpSpPr>
        <p:grpSpPr>
          <a:xfrm rot="5400000">
            <a:off x="8776764" y="775764"/>
            <a:ext cx="734472" cy="18288000"/>
            <a:chOff x="0" y="0"/>
            <a:chExt cx="193441" cy="4816593"/>
          </a:xfrm>
        </p:grpSpPr>
        <p:sp>
          <p:nvSpPr>
            <p:cNvPr name="Freeform 4" id="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5" id="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1028700" y="2183472"/>
            <a:ext cx="6692950" cy="6783273"/>
          </a:xfrm>
          <a:custGeom>
            <a:avLst/>
            <a:gdLst/>
            <a:ahLst/>
            <a:cxnLst/>
            <a:rect r="r" b="b" t="t" l="l"/>
            <a:pathLst>
              <a:path h="6783273" w="6692950">
                <a:moveTo>
                  <a:pt x="0" y="0"/>
                </a:moveTo>
                <a:lnTo>
                  <a:pt x="6692950" y="0"/>
                </a:lnTo>
                <a:lnTo>
                  <a:pt x="6692950" y="6783273"/>
                </a:lnTo>
                <a:lnTo>
                  <a:pt x="0" y="6783273"/>
                </a:lnTo>
                <a:lnTo>
                  <a:pt x="0" y="0"/>
                </a:lnTo>
                <a:close/>
              </a:path>
            </a:pathLst>
          </a:custGeom>
          <a:blipFill>
            <a:blip r:embed="rId3"/>
            <a:stretch>
              <a:fillRect l="0" t="0" r="0" b="0"/>
            </a:stretch>
          </a:blipFill>
        </p:spPr>
      </p:sp>
      <p:sp>
        <p:nvSpPr>
          <p:cNvPr name="TextBox 7" id="7"/>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III. Modeling</a:t>
            </a:r>
          </a:p>
        </p:txBody>
      </p:sp>
      <p:sp>
        <p:nvSpPr>
          <p:cNvPr name="TextBox 8" id="8"/>
          <p:cNvSpPr txBox="true"/>
          <p:nvPr/>
        </p:nvSpPr>
        <p:spPr>
          <a:xfrm rot="0">
            <a:off x="8979025" y="1815172"/>
            <a:ext cx="7662762"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Kinematics:</a:t>
            </a:r>
          </a:p>
        </p:txBody>
      </p:sp>
      <p:sp>
        <p:nvSpPr>
          <p:cNvPr name="TextBox 9" id="9"/>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7</a:t>
            </a:r>
          </a:p>
        </p:txBody>
      </p:sp>
      <p:sp>
        <p:nvSpPr>
          <p:cNvPr name="TextBox 10" id="10"/>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1" id="11"/>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pic>
        <p:nvPicPr>
          <p:cNvPr name="Picture 12" id="12"/>
          <p:cNvPicPr>
            <a:picLocks noChangeAspect="true"/>
          </p:cNvPicPr>
          <p:nvPr/>
        </p:nvPicPr>
        <p:blipFill>
          <a:blip r:embed="rId4"/>
          <a:stretch>
            <a:fillRect/>
          </a:stretch>
        </p:blipFill>
        <p:spPr>
          <a:xfrm rot="0">
            <a:off x="7086849" y="2106919"/>
            <a:ext cx="11447114" cy="3591251"/>
          </a:xfrm>
          <a:prstGeom prst="rect">
            <a:avLst/>
          </a:prstGeom>
        </p:spPr>
      </p:pic>
      <p:grpSp>
        <p:nvGrpSpPr>
          <p:cNvPr name="Group 13" id="13"/>
          <p:cNvGrpSpPr/>
          <p:nvPr/>
        </p:nvGrpSpPr>
        <p:grpSpPr>
          <a:xfrm rot="0">
            <a:off x="11478282" y="3009039"/>
            <a:ext cx="471344" cy="557910"/>
            <a:chOff x="0" y="0"/>
            <a:chExt cx="124140" cy="146939"/>
          </a:xfrm>
        </p:grpSpPr>
        <p:sp>
          <p:nvSpPr>
            <p:cNvPr name="Freeform 14" id="14"/>
            <p:cNvSpPr/>
            <p:nvPr/>
          </p:nvSpPr>
          <p:spPr>
            <a:xfrm flipH="false" flipV="false" rot="0">
              <a:off x="0" y="0"/>
              <a:ext cx="124140" cy="146939"/>
            </a:xfrm>
            <a:custGeom>
              <a:avLst/>
              <a:gdLst/>
              <a:ahLst/>
              <a:cxnLst/>
              <a:rect r="r" b="b" t="t" l="l"/>
              <a:pathLst>
                <a:path h="146939" w="124140">
                  <a:moveTo>
                    <a:pt x="0" y="0"/>
                  </a:moveTo>
                  <a:lnTo>
                    <a:pt x="124140" y="0"/>
                  </a:lnTo>
                  <a:lnTo>
                    <a:pt x="124140" y="146939"/>
                  </a:lnTo>
                  <a:lnTo>
                    <a:pt x="0" y="146939"/>
                  </a:lnTo>
                  <a:close/>
                </a:path>
              </a:pathLst>
            </a:custGeom>
            <a:solidFill>
              <a:srgbClr val="000000">
                <a:alpha val="0"/>
              </a:srgbClr>
            </a:solidFill>
            <a:ln w="38100" cap="sq">
              <a:solidFill>
                <a:srgbClr val="5E17EB"/>
              </a:solidFill>
              <a:prstDash val="solid"/>
              <a:miter/>
            </a:ln>
          </p:spPr>
        </p:sp>
        <p:sp>
          <p:nvSpPr>
            <p:cNvPr name="TextBox 15" id="15"/>
            <p:cNvSpPr txBox="true"/>
            <p:nvPr/>
          </p:nvSpPr>
          <p:spPr>
            <a:xfrm>
              <a:off x="0" y="-47625"/>
              <a:ext cx="124140" cy="194564"/>
            </a:xfrm>
            <a:prstGeom prst="rect">
              <a:avLst/>
            </a:prstGeom>
          </p:spPr>
          <p:txBody>
            <a:bodyPr anchor="ctr" rtlCol="false" tIns="50800" lIns="50800" bIns="50800" rIns="50800"/>
            <a:lstStyle/>
            <a:p>
              <a:pPr algn="ctr">
                <a:lnSpc>
                  <a:spcPts val="3499"/>
                </a:lnSpc>
              </a:pPr>
            </a:p>
          </p:txBody>
        </p:sp>
      </p:grpSp>
      <p:grpSp>
        <p:nvGrpSpPr>
          <p:cNvPr name="Group 16" id="16"/>
          <p:cNvGrpSpPr/>
          <p:nvPr/>
        </p:nvGrpSpPr>
        <p:grpSpPr>
          <a:xfrm rot="0">
            <a:off x="9620571" y="3131726"/>
            <a:ext cx="361746" cy="380423"/>
            <a:chOff x="0" y="0"/>
            <a:chExt cx="95275" cy="100194"/>
          </a:xfrm>
        </p:grpSpPr>
        <p:sp>
          <p:nvSpPr>
            <p:cNvPr name="Freeform 17" id="17"/>
            <p:cNvSpPr/>
            <p:nvPr/>
          </p:nvSpPr>
          <p:spPr>
            <a:xfrm flipH="false" flipV="false" rot="0">
              <a:off x="0" y="0"/>
              <a:ext cx="95275" cy="100194"/>
            </a:xfrm>
            <a:custGeom>
              <a:avLst/>
              <a:gdLst/>
              <a:ahLst/>
              <a:cxnLst/>
              <a:rect r="r" b="b" t="t" l="l"/>
              <a:pathLst>
                <a:path h="100194" w="95275">
                  <a:moveTo>
                    <a:pt x="0" y="0"/>
                  </a:moveTo>
                  <a:lnTo>
                    <a:pt x="95275" y="0"/>
                  </a:lnTo>
                  <a:lnTo>
                    <a:pt x="95275" y="100194"/>
                  </a:lnTo>
                  <a:lnTo>
                    <a:pt x="0" y="100194"/>
                  </a:lnTo>
                  <a:close/>
                </a:path>
              </a:pathLst>
            </a:custGeom>
            <a:solidFill>
              <a:srgbClr val="000000">
                <a:alpha val="0"/>
              </a:srgbClr>
            </a:solidFill>
            <a:ln w="38100" cap="sq">
              <a:solidFill>
                <a:srgbClr val="5E17EB"/>
              </a:solidFill>
              <a:prstDash val="solid"/>
              <a:miter/>
            </a:ln>
          </p:spPr>
        </p:sp>
        <p:sp>
          <p:nvSpPr>
            <p:cNvPr name="TextBox 18" id="18"/>
            <p:cNvSpPr txBox="true"/>
            <p:nvPr/>
          </p:nvSpPr>
          <p:spPr>
            <a:xfrm>
              <a:off x="0" y="-47625"/>
              <a:ext cx="95275" cy="147819"/>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13491188" y="3566948"/>
            <a:ext cx="361746" cy="380423"/>
            <a:chOff x="0" y="0"/>
            <a:chExt cx="95275" cy="100194"/>
          </a:xfrm>
        </p:grpSpPr>
        <p:sp>
          <p:nvSpPr>
            <p:cNvPr name="Freeform 20" id="20"/>
            <p:cNvSpPr/>
            <p:nvPr/>
          </p:nvSpPr>
          <p:spPr>
            <a:xfrm flipH="false" flipV="false" rot="0">
              <a:off x="0" y="0"/>
              <a:ext cx="95275" cy="100194"/>
            </a:xfrm>
            <a:custGeom>
              <a:avLst/>
              <a:gdLst/>
              <a:ahLst/>
              <a:cxnLst/>
              <a:rect r="r" b="b" t="t" l="l"/>
              <a:pathLst>
                <a:path h="100194" w="95275">
                  <a:moveTo>
                    <a:pt x="0" y="0"/>
                  </a:moveTo>
                  <a:lnTo>
                    <a:pt x="95275" y="0"/>
                  </a:lnTo>
                  <a:lnTo>
                    <a:pt x="95275" y="100194"/>
                  </a:lnTo>
                  <a:lnTo>
                    <a:pt x="0" y="100194"/>
                  </a:lnTo>
                  <a:close/>
                </a:path>
              </a:pathLst>
            </a:custGeom>
            <a:solidFill>
              <a:srgbClr val="000000">
                <a:alpha val="0"/>
              </a:srgbClr>
            </a:solidFill>
            <a:ln w="38100" cap="sq">
              <a:solidFill>
                <a:srgbClr val="5E17EB"/>
              </a:solidFill>
              <a:prstDash val="solid"/>
              <a:miter/>
            </a:ln>
          </p:spPr>
        </p:sp>
        <p:sp>
          <p:nvSpPr>
            <p:cNvPr name="TextBox 21" id="21"/>
            <p:cNvSpPr txBox="true"/>
            <p:nvPr/>
          </p:nvSpPr>
          <p:spPr>
            <a:xfrm>
              <a:off x="0" y="-47625"/>
              <a:ext cx="95275" cy="147819"/>
            </a:xfrm>
            <a:prstGeom prst="rect">
              <a:avLst/>
            </a:prstGeom>
          </p:spPr>
          <p:txBody>
            <a:bodyPr anchor="ctr" rtlCol="false" tIns="50800" lIns="50800" bIns="50800" rIns="50800"/>
            <a:lstStyle/>
            <a:p>
              <a:pPr algn="ctr">
                <a:lnSpc>
                  <a:spcPts val="3499"/>
                </a:lnSpc>
              </a:pPr>
            </a:p>
          </p:txBody>
        </p:sp>
      </p:grpSp>
      <p:grpSp>
        <p:nvGrpSpPr>
          <p:cNvPr name="Group 22" id="22"/>
          <p:cNvGrpSpPr/>
          <p:nvPr/>
        </p:nvGrpSpPr>
        <p:grpSpPr>
          <a:xfrm rot="0">
            <a:off x="11412746" y="4166680"/>
            <a:ext cx="361746" cy="380423"/>
            <a:chOff x="0" y="0"/>
            <a:chExt cx="95275" cy="100194"/>
          </a:xfrm>
        </p:grpSpPr>
        <p:sp>
          <p:nvSpPr>
            <p:cNvPr name="Freeform 23" id="23"/>
            <p:cNvSpPr/>
            <p:nvPr/>
          </p:nvSpPr>
          <p:spPr>
            <a:xfrm flipH="false" flipV="false" rot="0">
              <a:off x="0" y="0"/>
              <a:ext cx="95275" cy="100194"/>
            </a:xfrm>
            <a:custGeom>
              <a:avLst/>
              <a:gdLst/>
              <a:ahLst/>
              <a:cxnLst/>
              <a:rect r="r" b="b" t="t" l="l"/>
              <a:pathLst>
                <a:path h="100194" w="95275">
                  <a:moveTo>
                    <a:pt x="0" y="0"/>
                  </a:moveTo>
                  <a:lnTo>
                    <a:pt x="95275" y="0"/>
                  </a:lnTo>
                  <a:lnTo>
                    <a:pt x="95275" y="100194"/>
                  </a:lnTo>
                  <a:lnTo>
                    <a:pt x="0" y="100194"/>
                  </a:lnTo>
                  <a:close/>
                </a:path>
              </a:pathLst>
            </a:custGeom>
            <a:solidFill>
              <a:srgbClr val="000000">
                <a:alpha val="0"/>
              </a:srgbClr>
            </a:solidFill>
            <a:ln w="38100" cap="sq">
              <a:solidFill>
                <a:srgbClr val="5E17EB"/>
              </a:solidFill>
              <a:prstDash val="solid"/>
              <a:miter/>
            </a:ln>
          </p:spPr>
        </p:sp>
        <p:sp>
          <p:nvSpPr>
            <p:cNvPr name="TextBox 24" id="24"/>
            <p:cNvSpPr txBox="true"/>
            <p:nvPr/>
          </p:nvSpPr>
          <p:spPr>
            <a:xfrm>
              <a:off x="0" y="-47625"/>
              <a:ext cx="95275" cy="147819"/>
            </a:xfrm>
            <a:prstGeom prst="rect">
              <a:avLst/>
            </a:prstGeom>
          </p:spPr>
          <p:txBody>
            <a:bodyPr anchor="ctr" rtlCol="false" tIns="50800" lIns="50800" bIns="50800" rIns="50800"/>
            <a:lstStyle/>
            <a:p>
              <a:pPr algn="ctr">
                <a:lnSpc>
                  <a:spcPts val="3499"/>
                </a:lnSpc>
              </a:pPr>
            </a:p>
          </p:txBody>
        </p:sp>
      </p:grpSp>
      <p:grpSp>
        <p:nvGrpSpPr>
          <p:cNvPr name="Group 25" id="25"/>
          <p:cNvGrpSpPr/>
          <p:nvPr/>
        </p:nvGrpSpPr>
        <p:grpSpPr>
          <a:xfrm rot="0">
            <a:off x="13491188" y="4547104"/>
            <a:ext cx="361746" cy="380423"/>
            <a:chOff x="0" y="0"/>
            <a:chExt cx="95275" cy="100194"/>
          </a:xfrm>
        </p:grpSpPr>
        <p:sp>
          <p:nvSpPr>
            <p:cNvPr name="Freeform 26" id="26"/>
            <p:cNvSpPr/>
            <p:nvPr/>
          </p:nvSpPr>
          <p:spPr>
            <a:xfrm flipH="false" flipV="false" rot="0">
              <a:off x="0" y="0"/>
              <a:ext cx="95275" cy="100194"/>
            </a:xfrm>
            <a:custGeom>
              <a:avLst/>
              <a:gdLst/>
              <a:ahLst/>
              <a:cxnLst/>
              <a:rect r="r" b="b" t="t" l="l"/>
              <a:pathLst>
                <a:path h="100194" w="95275">
                  <a:moveTo>
                    <a:pt x="0" y="0"/>
                  </a:moveTo>
                  <a:lnTo>
                    <a:pt x="95275" y="0"/>
                  </a:lnTo>
                  <a:lnTo>
                    <a:pt x="95275" y="100194"/>
                  </a:lnTo>
                  <a:lnTo>
                    <a:pt x="0" y="100194"/>
                  </a:lnTo>
                  <a:close/>
                </a:path>
              </a:pathLst>
            </a:custGeom>
            <a:solidFill>
              <a:srgbClr val="000000">
                <a:alpha val="0"/>
              </a:srgbClr>
            </a:solidFill>
            <a:ln w="38100" cap="sq">
              <a:solidFill>
                <a:srgbClr val="5E17EB"/>
              </a:solidFill>
              <a:prstDash val="solid"/>
              <a:miter/>
            </a:ln>
          </p:spPr>
        </p:sp>
        <p:sp>
          <p:nvSpPr>
            <p:cNvPr name="TextBox 27" id="27"/>
            <p:cNvSpPr txBox="true"/>
            <p:nvPr/>
          </p:nvSpPr>
          <p:spPr>
            <a:xfrm>
              <a:off x="0" y="-47625"/>
              <a:ext cx="95275" cy="147819"/>
            </a:xfrm>
            <a:prstGeom prst="rect">
              <a:avLst/>
            </a:prstGeom>
          </p:spPr>
          <p:txBody>
            <a:bodyPr anchor="ctr" rtlCol="false" tIns="50800" lIns="50800" bIns="50800" rIns="50800"/>
            <a:lstStyle/>
            <a:p>
              <a:pPr algn="ctr">
                <a:lnSpc>
                  <a:spcPts val="3499"/>
                </a:lnSpc>
              </a:pPr>
            </a:p>
          </p:txBody>
        </p:sp>
      </p:grpSp>
      <p:pic>
        <p:nvPicPr>
          <p:cNvPr name="Picture 28" id="28"/>
          <p:cNvPicPr>
            <a:picLocks noChangeAspect="true"/>
          </p:cNvPicPr>
          <p:nvPr/>
        </p:nvPicPr>
        <p:blipFill>
          <a:blip r:embed="rId5"/>
          <a:stretch>
            <a:fillRect/>
          </a:stretch>
        </p:blipFill>
        <p:spPr>
          <a:xfrm rot="0">
            <a:off x="8884993" y="5173024"/>
            <a:ext cx="8826935" cy="4209671"/>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pic>
        <p:nvPicPr>
          <p:cNvPr name="Picture 3" id="3"/>
          <p:cNvPicPr>
            <a:picLocks noChangeAspect="true"/>
          </p:cNvPicPr>
          <p:nvPr/>
        </p:nvPicPr>
        <p:blipFill>
          <a:blip r:embed="rId3"/>
          <a:stretch>
            <a:fillRect/>
          </a:stretch>
        </p:blipFill>
        <p:spPr>
          <a:xfrm rot="0">
            <a:off x="8167495" y="2013053"/>
            <a:ext cx="9738360" cy="2285533"/>
          </a:xfrm>
          <a:prstGeom prst="rect">
            <a:avLst/>
          </a:prstGeom>
        </p:spPr>
      </p:pic>
      <p:pic>
        <p:nvPicPr>
          <p:cNvPr name="Picture 4" id="4"/>
          <p:cNvPicPr>
            <a:picLocks noChangeAspect="true"/>
          </p:cNvPicPr>
          <p:nvPr/>
        </p:nvPicPr>
        <p:blipFill>
          <a:blip r:embed="rId4"/>
          <a:stretch>
            <a:fillRect/>
          </a:stretch>
        </p:blipFill>
        <p:spPr>
          <a:xfrm rot="0">
            <a:off x="9529988" y="4525176"/>
            <a:ext cx="7013375" cy="1850154"/>
          </a:xfrm>
          <a:prstGeom prst="rect">
            <a:avLst/>
          </a:prstGeom>
        </p:spPr>
      </p:pic>
      <p:pic>
        <p:nvPicPr>
          <p:cNvPr name="Picture 5" id="5"/>
          <p:cNvPicPr>
            <a:picLocks noChangeAspect="true"/>
          </p:cNvPicPr>
          <p:nvPr/>
        </p:nvPicPr>
        <p:blipFill>
          <a:blip r:embed="rId5"/>
          <a:stretch>
            <a:fillRect/>
          </a:stretch>
        </p:blipFill>
        <p:spPr>
          <a:xfrm rot="0">
            <a:off x="7609317" y="5162547"/>
            <a:ext cx="10854715" cy="2490377"/>
          </a:xfrm>
          <a:prstGeom prst="rect">
            <a:avLst/>
          </a:prstGeom>
        </p:spPr>
      </p:pic>
      <p:pic>
        <p:nvPicPr>
          <p:cNvPr name="Picture 6" id="6"/>
          <p:cNvPicPr>
            <a:picLocks noChangeAspect="true"/>
          </p:cNvPicPr>
          <p:nvPr/>
        </p:nvPicPr>
        <p:blipFill>
          <a:blip r:embed="rId6"/>
          <a:stretch>
            <a:fillRect/>
          </a:stretch>
        </p:blipFill>
        <p:spPr>
          <a:xfrm rot="0">
            <a:off x="8962275" y="6345524"/>
            <a:ext cx="8148800" cy="2415046"/>
          </a:xfrm>
          <a:prstGeom prst="rect">
            <a:avLst/>
          </a:prstGeom>
        </p:spPr>
      </p:pic>
      <p:grpSp>
        <p:nvGrpSpPr>
          <p:cNvPr name="Group 7" id="7"/>
          <p:cNvGrpSpPr/>
          <p:nvPr/>
        </p:nvGrpSpPr>
        <p:grpSpPr>
          <a:xfrm rot="5400000">
            <a:off x="8776764" y="775764"/>
            <a:ext cx="734472" cy="18288000"/>
            <a:chOff x="0" y="0"/>
            <a:chExt cx="193441" cy="4816593"/>
          </a:xfrm>
        </p:grpSpPr>
        <p:sp>
          <p:nvSpPr>
            <p:cNvPr name="Freeform 8" id="8"/>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9" id="9"/>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Freeform 10" id="10"/>
          <p:cNvSpPr/>
          <p:nvPr/>
        </p:nvSpPr>
        <p:spPr>
          <a:xfrm flipH="false" flipV="false" rot="0">
            <a:off x="1028700" y="2183472"/>
            <a:ext cx="6692950" cy="6783273"/>
          </a:xfrm>
          <a:custGeom>
            <a:avLst/>
            <a:gdLst/>
            <a:ahLst/>
            <a:cxnLst/>
            <a:rect r="r" b="b" t="t" l="l"/>
            <a:pathLst>
              <a:path h="6783273" w="6692950">
                <a:moveTo>
                  <a:pt x="0" y="0"/>
                </a:moveTo>
                <a:lnTo>
                  <a:pt x="6692950" y="0"/>
                </a:lnTo>
                <a:lnTo>
                  <a:pt x="6692950" y="6783273"/>
                </a:lnTo>
                <a:lnTo>
                  <a:pt x="0" y="6783273"/>
                </a:lnTo>
                <a:lnTo>
                  <a:pt x="0" y="0"/>
                </a:lnTo>
                <a:close/>
              </a:path>
            </a:pathLst>
          </a:custGeom>
          <a:blipFill>
            <a:blip r:embed="rId7"/>
            <a:stretch>
              <a:fillRect l="0" t="0" r="0" b="0"/>
            </a:stretch>
          </a:blipFill>
        </p:spPr>
      </p:sp>
      <p:sp>
        <p:nvSpPr>
          <p:cNvPr name="TextBox 11" id="11"/>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III. Modeling</a:t>
            </a:r>
          </a:p>
        </p:txBody>
      </p:sp>
      <p:sp>
        <p:nvSpPr>
          <p:cNvPr name="TextBox 12" id="12"/>
          <p:cNvSpPr txBox="true"/>
          <p:nvPr/>
        </p:nvSpPr>
        <p:spPr>
          <a:xfrm rot="0">
            <a:off x="8979025" y="1815172"/>
            <a:ext cx="7662762"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Dynamics:</a:t>
            </a:r>
          </a:p>
        </p:txBody>
      </p:sp>
      <p:sp>
        <p:nvSpPr>
          <p:cNvPr name="TextBox 13" id="13"/>
          <p:cNvSpPr txBox="true"/>
          <p:nvPr/>
        </p:nvSpPr>
        <p:spPr>
          <a:xfrm rot="0">
            <a:off x="8979025" y="3998646"/>
            <a:ext cx="7662762"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Generalized coordinates:</a:t>
            </a:r>
          </a:p>
        </p:txBody>
      </p:sp>
      <p:sp>
        <p:nvSpPr>
          <p:cNvPr name="TextBox 14" id="14"/>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8</a:t>
            </a:r>
          </a:p>
        </p:txBody>
      </p:sp>
      <p:sp>
        <p:nvSpPr>
          <p:cNvPr name="TextBox 15" id="15"/>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6" id="16"/>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pic>
        <p:nvPicPr>
          <p:cNvPr name="Picture 3" id="3"/>
          <p:cNvPicPr>
            <a:picLocks noChangeAspect="true"/>
          </p:cNvPicPr>
          <p:nvPr/>
        </p:nvPicPr>
        <p:blipFill>
          <a:blip r:embed="rId3"/>
          <a:stretch>
            <a:fillRect/>
          </a:stretch>
        </p:blipFill>
        <p:spPr>
          <a:xfrm rot="0">
            <a:off x="8008502" y="1986554"/>
            <a:ext cx="10056347" cy="2338531"/>
          </a:xfrm>
          <a:prstGeom prst="rect">
            <a:avLst/>
          </a:prstGeom>
        </p:spPr>
      </p:pic>
      <p:pic>
        <p:nvPicPr>
          <p:cNvPr name="Picture 4" id="4"/>
          <p:cNvPicPr>
            <a:picLocks noChangeAspect="true"/>
          </p:cNvPicPr>
          <p:nvPr/>
        </p:nvPicPr>
        <p:blipFill>
          <a:blip r:embed="rId4"/>
          <a:stretch>
            <a:fillRect/>
          </a:stretch>
        </p:blipFill>
        <p:spPr>
          <a:xfrm rot="0">
            <a:off x="10788523" y="4573007"/>
            <a:ext cx="4496305" cy="1430642"/>
          </a:xfrm>
          <a:prstGeom prst="rect">
            <a:avLst/>
          </a:prstGeom>
        </p:spPr>
      </p:pic>
      <p:pic>
        <p:nvPicPr>
          <p:cNvPr name="Picture 5" id="5"/>
          <p:cNvPicPr>
            <a:picLocks noChangeAspect="true"/>
          </p:cNvPicPr>
          <p:nvPr/>
        </p:nvPicPr>
        <p:blipFill>
          <a:blip r:embed="rId5"/>
          <a:stretch>
            <a:fillRect/>
          </a:stretch>
        </p:blipFill>
        <p:spPr>
          <a:xfrm rot="0">
            <a:off x="9349007" y="5589280"/>
            <a:ext cx="7448424" cy="1922662"/>
          </a:xfrm>
          <a:prstGeom prst="rect">
            <a:avLst/>
          </a:prstGeom>
        </p:spPr>
      </p:pic>
      <p:grpSp>
        <p:nvGrpSpPr>
          <p:cNvPr name="Group 6" id="6"/>
          <p:cNvGrpSpPr/>
          <p:nvPr/>
        </p:nvGrpSpPr>
        <p:grpSpPr>
          <a:xfrm rot="5400000">
            <a:off x="8776764" y="775764"/>
            <a:ext cx="734472" cy="18288000"/>
            <a:chOff x="0" y="0"/>
            <a:chExt cx="193441" cy="4816593"/>
          </a:xfrm>
        </p:grpSpPr>
        <p:sp>
          <p:nvSpPr>
            <p:cNvPr name="Freeform 7" id="7"/>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8" id="8"/>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9" id="9"/>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III. Modeling</a:t>
            </a:r>
          </a:p>
        </p:txBody>
      </p:sp>
      <p:sp>
        <p:nvSpPr>
          <p:cNvPr name="TextBox 10" id="10"/>
          <p:cNvSpPr txBox="true"/>
          <p:nvPr/>
        </p:nvSpPr>
        <p:spPr>
          <a:xfrm rot="0">
            <a:off x="8979025" y="1815172"/>
            <a:ext cx="7662762"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Simplified dynamics:</a:t>
            </a:r>
          </a:p>
        </p:txBody>
      </p:sp>
      <p:sp>
        <p:nvSpPr>
          <p:cNvPr name="TextBox 11" id="11"/>
          <p:cNvSpPr txBox="true"/>
          <p:nvPr/>
        </p:nvSpPr>
        <p:spPr>
          <a:xfrm rot="0">
            <a:off x="8979025" y="3998646"/>
            <a:ext cx="7662762"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Generalized coordinates:</a:t>
            </a:r>
          </a:p>
        </p:txBody>
      </p:sp>
      <p:sp>
        <p:nvSpPr>
          <p:cNvPr name="TextBox 12" id="12"/>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9</a:t>
            </a:r>
          </a:p>
        </p:txBody>
      </p:sp>
      <p:sp>
        <p:nvSpPr>
          <p:cNvPr name="TextBox 13" id="13"/>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4" id="14"/>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
        <p:nvSpPr>
          <p:cNvPr name="Freeform 15" id="15"/>
          <p:cNvSpPr/>
          <p:nvPr/>
        </p:nvSpPr>
        <p:spPr>
          <a:xfrm flipH="false" flipV="false" rot="0">
            <a:off x="1028700" y="2183472"/>
            <a:ext cx="6692950" cy="6783273"/>
          </a:xfrm>
          <a:custGeom>
            <a:avLst/>
            <a:gdLst/>
            <a:ahLst/>
            <a:cxnLst/>
            <a:rect r="r" b="b" t="t" l="l"/>
            <a:pathLst>
              <a:path h="6783273" w="6692950">
                <a:moveTo>
                  <a:pt x="0" y="0"/>
                </a:moveTo>
                <a:lnTo>
                  <a:pt x="6692950" y="0"/>
                </a:lnTo>
                <a:lnTo>
                  <a:pt x="6692950" y="6783273"/>
                </a:lnTo>
                <a:lnTo>
                  <a:pt x="0" y="6783273"/>
                </a:lnTo>
                <a:lnTo>
                  <a:pt x="0" y="0"/>
                </a:lnTo>
                <a:close/>
              </a:path>
            </a:pathLst>
          </a:custGeom>
          <a:blipFill>
            <a:blip r:embed="rId6"/>
            <a:stretch>
              <a:fillRect l="0" t="0" r="0" b="0"/>
            </a:stretch>
          </a:blipFill>
        </p:spPr>
      </p:sp>
      <p:pic>
        <p:nvPicPr>
          <p:cNvPr name="Picture 16" id="16"/>
          <p:cNvPicPr>
            <a:picLocks noChangeAspect="true"/>
          </p:cNvPicPr>
          <p:nvPr/>
        </p:nvPicPr>
        <p:blipFill>
          <a:blip r:embed="rId7"/>
          <a:stretch>
            <a:fillRect/>
          </a:stretch>
        </p:blipFill>
        <p:spPr>
          <a:xfrm rot="0">
            <a:off x="9685296" y="6913703"/>
            <a:ext cx="6702758" cy="1983862"/>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pic>
        <p:nvPicPr>
          <p:cNvPr name="Picture 3" id="3"/>
          <p:cNvPicPr>
            <a:picLocks noChangeAspect="true"/>
          </p:cNvPicPr>
          <p:nvPr/>
        </p:nvPicPr>
        <p:blipFill>
          <a:blip r:embed="rId3"/>
          <a:stretch>
            <a:fillRect/>
          </a:stretch>
        </p:blipFill>
        <p:spPr>
          <a:xfrm rot="0">
            <a:off x="-138515" y="1965216"/>
            <a:ext cx="14006582" cy="2996903"/>
          </a:xfrm>
          <a:prstGeom prst="rect">
            <a:avLst/>
          </a:prstGeom>
        </p:spPr>
      </p:pic>
      <p:grpSp>
        <p:nvGrpSpPr>
          <p:cNvPr name="Group 4" id="4"/>
          <p:cNvGrpSpPr/>
          <p:nvPr/>
        </p:nvGrpSpPr>
        <p:grpSpPr>
          <a:xfrm rot="0">
            <a:off x="1028700" y="3908197"/>
            <a:ext cx="5836076" cy="777781"/>
            <a:chOff x="0" y="0"/>
            <a:chExt cx="1537073" cy="204848"/>
          </a:xfrm>
        </p:grpSpPr>
        <p:sp>
          <p:nvSpPr>
            <p:cNvPr name="Freeform 5" id="5"/>
            <p:cNvSpPr/>
            <p:nvPr/>
          </p:nvSpPr>
          <p:spPr>
            <a:xfrm flipH="false" flipV="false" rot="0">
              <a:off x="0" y="0"/>
              <a:ext cx="1537073" cy="204848"/>
            </a:xfrm>
            <a:custGeom>
              <a:avLst/>
              <a:gdLst/>
              <a:ahLst/>
              <a:cxnLst/>
              <a:rect r="r" b="b" t="t" l="l"/>
              <a:pathLst>
                <a:path h="204848" w="1537073">
                  <a:moveTo>
                    <a:pt x="0" y="0"/>
                  </a:moveTo>
                  <a:lnTo>
                    <a:pt x="1537073" y="0"/>
                  </a:lnTo>
                  <a:lnTo>
                    <a:pt x="1537073" y="204848"/>
                  </a:lnTo>
                  <a:lnTo>
                    <a:pt x="0" y="204848"/>
                  </a:lnTo>
                  <a:close/>
                </a:path>
              </a:pathLst>
            </a:custGeom>
            <a:solidFill>
              <a:srgbClr val="000000">
                <a:alpha val="0"/>
              </a:srgbClr>
            </a:solidFill>
            <a:ln w="38100" cap="sq">
              <a:solidFill>
                <a:srgbClr val="7ED957"/>
              </a:solidFill>
              <a:prstDash val="solid"/>
              <a:miter/>
            </a:ln>
          </p:spPr>
        </p:sp>
        <p:sp>
          <p:nvSpPr>
            <p:cNvPr name="TextBox 6" id="6"/>
            <p:cNvSpPr txBox="true"/>
            <p:nvPr/>
          </p:nvSpPr>
          <p:spPr>
            <a:xfrm>
              <a:off x="0" y="-47625"/>
              <a:ext cx="1537073" cy="252473"/>
            </a:xfrm>
            <a:prstGeom prst="rect">
              <a:avLst/>
            </a:prstGeom>
          </p:spPr>
          <p:txBody>
            <a:bodyPr anchor="ctr" rtlCol="false" tIns="50800" lIns="50800" bIns="50800" rIns="50800"/>
            <a:lstStyle/>
            <a:p>
              <a:pPr algn="ctr">
                <a:lnSpc>
                  <a:spcPts val="3499"/>
                </a:lnSpc>
              </a:pPr>
            </a:p>
          </p:txBody>
        </p:sp>
      </p:grpSp>
      <p:pic>
        <p:nvPicPr>
          <p:cNvPr name="Picture 7" id="7"/>
          <p:cNvPicPr>
            <a:picLocks noChangeAspect="true"/>
          </p:cNvPicPr>
          <p:nvPr/>
        </p:nvPicPr>
        <p:blipFill>
          <a:blip r:embed="rId4"/>
          <a:stretch>
            <a:fillRect/>
          </a:stretch>
        </p:blipFill>
        <p:spPr>
          <a:xfrm rot="0">
            <a:off x="571140" y="3360360"/>
            <a:ext cx="6700446" cy="1779214"/>
          </a:xfrm>
          <a:prstGeom prst="rect">
            <a:avLst/>
          </a:prstGeom>
        </p:spPr>
      </p:pic>
      <p:sp>
        <p:nvSpPr>
          <p:cNvPr name="TextBox 8" id="8"/>
          <p:cNvSpPr txBox="true"/>
          <p:nvPr/>
        </p:nvSpPr>
        <p:spPr>
          <a:xfrm rot="0">
            <a:off x="1028700" y="2277075"/>
            <a:ext cx="13921055"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Synthesized P</a:t>
            </a:r>
            <a:r>
              <a:rPr lang="en-US" sz="3999" spc="-79">
                <a:solidFill>
                  <a:srgbClr val="291B25"/>
                </a:solidFill>
                <a:latin typeface="Arbutus Slab"/>
                <a:ea typeface="Arbutus Slab"/>
                <a:cs typeface="Arbutus Slab"/>
                <a:sym typeface="Arbutus Slab"/>
              </a:rPr>
              <a:t>itch Angle Disturbance Observer (SPADO)</a:t>
            </a:r>
            <a:r>
              <a:rPr lang="en-US" sz="3999" spc="-79">
                <a:solidFill>
                  <a:srgbClr val="291B25"/>
                </a:solidFill>
                <a:latin typeface="Arbutus Slab"/>
                <a:ea typeface="Arbutus Slab"/>
                <a:cs typeface="Arbutus Slab"/>
                <a:sym typeface="Arbutus Slab"/>
              </a:rPr>
              <a:t>:</a:t>
            </a:r>
          </a:p>
        </p:txBody>
      </p:sp>
      <p:pic>
        <p:nvPicPr>
          <p:cNvPr name="Picture 9" id="9"/>
          <p:cNvPicPr>
            <a:picLocks noChangeAspect="true"/>
          </p:cNvPicPr>
          <p:nvPr/>
        </p:nvPicPr>
        <p:blipFill>
          <a:blip r:embed="rId5"/>
          <a:stretch>
            <a:fillRect/>
          </a:stretch>
        </p:blipFill>
        <p:spPr>
          <a:xfrm rot="0">
            <a:off x="-327793" y="3329485"/>
            <a:ext cx="16277920" cy="3375460"/>
          </a:xfrm>
          <a:prstGeom prst="rect">
            <a:avLst/>
          </a:prstGeom>
        </p:spPr>
      </p:pic>
      <p:pic>
        <p:nvPicPr>
          <p:cNvPr name="Picture 10" id="10"/>
          <p:cNvPicPr>
            <a:picLocks noChangeAspect="true"/>
          </p:cNvPicPr>
          <p:nvPr/>
        </p:nvPicPr>
        <p:blipFill>
          <a:blip r:embed="rId6"/>
          <a:stretch>
            <a:fillRect/>
          </a:stretch>
        </p:blipFill>
        <p:spPr>
          <a:xfrm rot="0">
            <a:off x="-280474" y="5123098"/>
            <a:ext cx="15710086" cy="3280821"/>
          </a:xfrm>
          <a:prstGeom prst="rect">
            <a:avLst/>
          </a:prstGeom>
        </p:spPr>
      </p:pic>
      <p:grpSp>
        <p:nvGrpSpPr>
          <p:cNvPr name="Group 11" id="11"/>
          <p:cNvGrpSpPr/>
          <p:nvPr/>
        </p:nvGrpSpPr>
        <p:grpSpPr>
          <a:xfrm rot="0">
            <a:off x="930268" y="7151391"/>
            <a:ext cx="7993416" cy="777781"/>
            <a:chOff x="0" y="0"/>
            <a:chExt cx="2105262" cy="204848"/>
          </a:xfrm>
        </p:grpSpPr>
        <p:sp>
          <p:nvSpPr>
            <p:cNvPr name="Freeform 12" id="12"/>
            <p:cNvSpPr/>
            <p:nvPr/>
          </p:nvSpPr>
          <p:spPr>
            <a:xfrm flipH="false" flipV="false" rot="0">
              <a:off x="0" y="0"/>
              <a:ext cx="2105262" cy="204848"/>
            </a:xfrm>
            <a:custGeom>
              <a:avLst/>
              <a:gdLst/>
              <a:ahLst/>
              <a:cxnLst/>
              <a:rect r="r" b="b" t="t" l="l"/>
              <a:pathLst>
                <a:path h="204848" w="2105262">
                  <a:moveTo>
                    <a:pt x="0" y="0"/>
                  </a:moveTo>
                  <a:lnTo>
                    <a:pt x="2105262" y="0"/>
                  </a:lnTo>
                  <a:lnTo>
                    <a:pt x="2105262" y="204848"/>
                  </a:lnTo>
                  <a:lnTo>
                    <a:pt x="0" y="204848"/>
                  </a:lnTo>
                  <a:close/>
                </a:path>
              </a:pathLst>
            </a:custGeom>
            <a:solidFill>
              <a:srgbClr val="000000">
                <a:alpha val="0"/>
              </a:srgbClr>
            </a:solidFill>
            <a:ln w="38100" cap="sq">
              <a:solidFill>
                <a:srgbClr val="7ED957"/>
              </a:solidFill>
              <a:prstDash val="solid"/>
              <a:miter/>
            </a:ln>
          </p:spPr>
        </p:sp>
        <p:sp>
          <p:nvSpPr>
            <p:cNvPr name="TextBox 13" id="13"/>
            <p:cNvSpPr txBox="true"/>
            <p:nvPr/>
          </p:nvSpPr>
          <p:spPr>
            <a:xfrm>
              <a:off x="0" y="-47625"/>
              <a:ext cx="2105262" cy="252473"/>
            </a:xfrm>
            <a:prstGeom prst="rect">
              <a:avLst/>
            </a:prstGeom>
          </p:spPr>
          <p:txBody>
            <a:bodyPr anchor="ctr" rtlCol="false" tIns="50800" lIns="50800" bIns="50800" rIns="50800"/>
            <a:lstStyle/>
            <a:p>
              <a:pPr algn="ctr">
                <a:lnSpc>
                  <a:spcPts val="3499"/>
                </a:lnSpc>
              </a:pPr>
            </a:p>
          </p:txBody>
        </p:sp>
      </p:grpSp>
      <p:pic>
        <p:nvPicPr>
          <p:cNvPr name="Picture 14" id="14"/>
          <p:cNvPicPr>
            <a:picLocks noChangeAspect="true"/>
          </p:cNvPicPr>
          <p:nvPr/>
        </p:nvPicPr>
        <p:blipFill>
          <a:blip r:embed="rId7"/>
          <a:stretch>
            <a:fillRect/>
          </a:stretch>
        </p:blipFill>
        <p:spPr>
          <a:xfrm rot="0">
            <a:off x="256774" y="6437119"/>
            <a:ext cx="9263107" cy="2206324"/>
          </a:xfrm>
          <a:prstGeom prst="rect">
            <a:avLst/>
          </a:prstGeom>
        </p:spPr>
      </p:pic>
      <p:pic>
        <p:nvPicPr>
          <p:cNvPr name="Picture 15" id="15"/>
          <p:cNvPicPr>
            <a:picLocks noChangeAspect="true"/>
          </p:cNvPicPr>
          <p:nvPr/>
        </p:nvPicPr>
        <p:blipFill>
          <a:blip r:embed="rId8"/>
          <a:stretch>
            <a:fillRect/>
          </a:stretch>
        </p:blipFill>
        <p:spPr>
          <a:xfrm rot="0">
            <a:off x="-394178" y="6462129"/>
            <a:ext cx="18284268" cy="3709851"/>
          </a:xfrm>
          <a:prstGeom prst="rect">
            <a:avLst/>
          </a:prstGeom>
        </p:spPr>
      </p:pic>
      <p:sp>
        <p:nvSpPr>
          <p:cNvPr name="TextBox 16" id="16"/>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IV. Control</a:t>
            </a:r>
          </a:p>
        </p:txBody>
      </p:sp>
      <p:grpSp>
        <p:nvGrpSpPr>
          <p:cNvPr name="Group 17" id="17"/>
          <p:cNvGrpSpPr/>
          <p:nvPr/>
        </p:nvGrpSpPr>
        <p:grpSpPr>
          <a:xfrm rot="5400000">
            <a:off x="8776764" y="775764"/>
            <a:ext cx="734472" cy="18288000"/>
            <a:chOff x="0" y="0"/>
            <a:chExt cx="193441" cy="4816593"/>
          </a:xfrm>
        </p:grpSpPr>
        <p:sp>
          <p:nvSpPr>
            <p:cNvPr name="Freeform 18" id="18"/>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19" id="19"/>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20" id="20"/>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10</a:t>
            </a:r>
          </a:p>
        </p:txBody>
      </p:sp>
      <p:sp>
        <p:nvSpPr>
          <p:cNvPr name="TextBox 21" id="21"/>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22" id="22"/>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sp>
        <p:nvSpPr>
          <p:cNvPr name="TextBox 3" id="3"/>
          <p:cNvSpPr txBox="true"/>
          <p:nvPr/>
        </p:nvSpPr>
        <p:spPr>
          <a:xfrm rot="0">
            <a:off x="1028700" y="2277075"/>
            <a:ext cx="7662762"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SPADO:</a:t>
            </a:r>
          </a:p>
        </p:txBody>
      </p:sp>
      <p:pic>
        <p:nvPicPr>
          <p:cNvPr name="Picture 4" id="4"/>
          <p:cNvPicPr>
            <a:picLocks noChangeAspect="true"/>
          </p:cNvPicPr>
          <p:nvPr/>
        </p:nvPicPr>
        <p:blipFill>
          <a:blip r:embed="rId3"/>
          <a:stretch>
            <a:fillRect/>
          </a:stretch>
        </p:blipFill>
        <p:spPr>
          <a:xfrm rot="0">
            <a:off x="-16165" y="2349811"/>
            <a:ext cx="12538379" cy="3082060"/>
          </a:xfrm>
          <a:prstGeom prst="rect">
            <a:avLst/>
          </a:prstGeom>
        </p:spPr>
      </p:pic>
      <p:pic>
        <p:nvPicPr>
          <p:cNvPr name="Picture 5" id="5"/>
          <p:cNvPicPr>
            <a:picLocks noChangeAspect="true"/>
          </p:cNvPicPr>
          <p:nvPr/>
        </p:nvPicPr>
        <p:blipFill>
          <a:blip r:embed="rId4"/>
          <a:stretch>
            <a:fillRect/>
          </a:stretch>
        </p:blipFill>
        <p:spPr>
          <a:xfrm rot="0">
            <a:off x="507727" y="4313707"/>
            <a:ext cx="6251677" cy="2034276"/>
          </a:xfrm>
          <a:prstGeom prst="rect">
            <a:avLst/>
          </a:prstGeom>
        </p:spPr>
      </p:pic>
      <p:grpSp>
        <p:nvGrpSpPr>
          <p:cNvPr name="Group 6" id="6"/>
          <p:cNvGrpSpPr/>
          <p:nvPr/>
        </p:nvGrpSpPr>
        <p:grpSpPr>
          <a:xfrm rot="0">
            <a:off x="930268" y="6159958"/>
            <a:ext cx="8387305" cy="1221784"/>
            <a:chOff x="0" y="0"/>
            <a:chExt cx="2209002" cy="321787"/>
          </a:xfrm>
        </p:grpSpPr>
        <p:sp>
          <p:nvSpPr>
            <p:cNvPr name="Freeform 7" id="7"/>
            <p:cNvSpPr/>
            <p:nvPr/>
          </p:nvSpPr>
          <p:spPr>
            <a:xfrm flipH="false" flipV="false" rot="0">
              <a:off x="0" y="0"/>
              <a:ext cx="2209002" cy="321787"/>
            </a:xfrm>
            <a:custGeom>
              <a:avLst/>
              <a:gdLst/>
              <a:ahLst/>
              <a:cxnLst/>
              <a:rect r="r" b="b" t="t" l="l"/>
              <a:pathLst>
                <a:path h="321787" w="2209002">
                  <a:moveTo>
                    <a:pt x="0" y="0"/>
                  </a:moveTo>
                  <a:lnTo>
                    <a:pt x="2209002" y="0"/>
                  </a:lnTo>
                  <a:lnTo>
                    <a:pt x="2209002" y="321787"/>
                  </a:lnTo>
                  <a:lnTo>
                    <a:pt x="0" y="321787"/>
                  </a:lnTo>
                  <a:close/>
                </a:path>
              </a:pathLst>
            </a:custGeom>
            <a:solidFill>
              <a:srgbClr val="000000">
                <a:alpha val="0"/>
              </a:srgbClr>
            </a:solidFill>
            <a:ln w="38100" cap="sq">
              <a:solidFill>
                <a:srgbClr val="FF5757"/>
              </a:solidFill>
              <a:prstDash val="solid"/>
              <a:miter/>
            </a:ln>
          </p:spPr>
        </p:sp>
        <p:sp>
          <p:nvSpPr>
            <p:cNvPr name="TextBox 8" id="8"/>
            <p:cNvSpPr txBox="true"/>
            <p:nvPr/>
          </p:nvSpPr>
          <p:spPr>
            <a:xfrm>
              <a:off x="0" y="-47625"/>
              <a:ext cx="2209002" cy="369412"/>
            </a:xfrm>
            <a:prstGeom prst="rect">
              <a:avLst/>
            </a:prstGeom>
          </p:spPr>
          <p:txBody>
            <a:bodyPr anchor="ctr" rtlCol="false" tIns="50800" lIns="50800" bIns="50800" rIns="50800"/>
            <a:lstStyle/>
            <a:p>
              <a:pPr algn="ctr">
                <a:lnSpc>
                  <a:spcPts val="3499"/>
                </a:lnSpc>
              </a:pPr>
            </a:p>
          </p:txBody>
        </p:sp>
      </p:grpSp>
      <p:pic>
        <p:nvPicPr>
          <p:cNvPr name="Picture 9" id="9"/>
          <p:cNvPicPr>
            <a:picLocks noChangeAspect="true"/>
          </p:cNvPicPr>
          <p:nvPr/>
        </p:nvPicPr>
        <p:blipFill>
          <a:blip r:embed="rId5"/>
          <a:stretch>
            <a:fillRect/>
          </a:stretch>
        </p:blipFill>
        <p:spPr>
          <a:xfrm rot="0">
            <a:off x="199813" y="5445798"/>
            <a:ext cx="9946646" cy="2650104"/>
          </a:xfrm>
          <a:prstGeom prst="rect">
            <a:avLst/>
          </a:prstGeom>
        </p:spPr>
      </p:pic>
      <p:grpSp>
        <p:nvGrpSpPr>
          <p:cNvPr name="Group 10" id="10"/>
          <p:cNvGrpSpPr/>
          <p:nvPr/>
        </p:nvGrpSpPr>
        <p:grpSpPr>
          <a:xfrm rot="0">
            <a:off x="930268" y="7579765"/>
            <a:ext cx="12132993" cy="1221784"/>
            <a:chOff x="0" y="0"/>
            <a:chExt cx="3195521" cy="321787"/>
          </a:xfrm>
        </p:grpSpPr>
        <p:sp>
          <p:nvSpPr>
            <p:cNvPr name="Freeform 11" id="11"/>
            <p:cNvSpPr/>
            <p:nvPr/>
          </p:nvSpPr>
          <p:spPr>
            <a:xfrm flipH="false" flipV="false" rot="0">
              <a:off x="0" y="0"/>
              <a:ext cx="3195521" cy="321787"/>
            </a:xfrm>
            <a:custGeom>
              <a:avLst/>
              <a:gdLst/>
              <a:ahLst/>
              <a:cxnLst/>
              <a:rect r="r" b="b" t="t" l="l"/>
              <a:pathLst>
                <a:path h="321787" w="3195521">
                  <a:moveTo>
                    <a:pt x="0" y="0"/>
                  </a:moveTo>
                  <a:lnTo>
                    <a:pt x="3195521" y="0"/>
                  </a:lnTo>
                  <a:lnTo>
                    <a:pt x="3195521" y="321787"/>
                  </a:lnTo>
                  <a:lnTo>
                    <a:pt x="0" y="321787"/>
                  </a:lnTo>
                  <a:close/>
                </a:path>
              </a:pathLst>
            </a:custGeom>
            <a:solidFill>
              <a:srgbClr val="000000">
                <a:alpha val="0"/>
              </a:srgbClr>
            </a:solidFill>
            <a:ln w="38100" cap="sq">
              <a:solidFill>
                <a:srgbClr val="0097B2"/>
              </a:solidFill>
              <a:prstDash val="solid"/>
              <a:miter/>
            </a:ln>
          </p:spPr>
        </p:sp>
        <p:sp>
          <p:nvSpPr>
            <p:cNvPr name="TextBox 12" id="12"/>
            <p:cNvSpPr txBox="true"/>
            <p:nvPr/>
          </p:nvSpPr>
          <p:spPr>
            <a:xfrm>
              <a:off x="0" y="-47625"/>
              <a:ext cx="3195521" cy="369412"/>
            </a:xfrm>
            <a:prstGeom prst="rect">
              <a:avLst/>
            </a:prstGeom>
          </p:spPr>
          <p:txBody>
            <a:bodyPr anchor="ctr" rtlCol="false" tIns="50800" lIns="50800" bIns="50800" rIns="50800"/>
            <a:lstStyle/>
            <a:p>
              <a:pPr algn="ctr">
                <a:lnSpc>
                  <a:spcPts val="3499"/>
                </a:lnSpc>
              </a:pPr>
            </a:p>
          </p:txBody>
        </p:sp>
      </p:grpSp>
      <p:pic>
        <p:nvPicPr>
          <p:cNvPr name="Picture 13" id="13"/>
          <p:cNvPicPr>
            <a:picLocks noChangeAspect="true"/>
          </p:cNvPicPr>
          <p:nvPr/>
        </p:nvPicPr>
        <p:blipFill>
          <a:blip r:embed="rId6"/>
          <a:stretch>
            <a:fillRect/>
          </a:stretch>
        </p:blipFill>
        <p:spPr>
          <a:xfrm rot="0">
            <a:off x="-168018" y="6517972"/>
            <a:ext cx="14360622" cy="3345372"/>
          </a:xfrm>
          <a:prstGeom prst="rect">
            <a:avLst/>
          </a:prstGeom>
        </p:spPr>
      </p:pic>
      <p:sp>
        <p:nvSpPr>
          <p:cNvPr name="TextBox 14" id="14"/>
          <p:cNvSpPr txBox="true"/>
          <p:nvPr/>
        </p:nvSpPr>
        <p:spPr>
          <a:xfrm rot="0">
            <a:off x="13218134" y="7842360"/>
            <a:ext cx="4952689" cy="629920"/>
          </a:xfrm>
          <a:prstGeom prst="rect">
            <a:avLst/>
          </a:prstGeom>
        </p:spPr>
        <p:txBody>
          <a:bodyPr anchor="t" rtlCol="false" tIns="0" lIns="0" bIns="0" rIns="0">
            <a:spAutoFit/>
          </a:bodyPr>
          <a:lstStyle/>
          <a:p>
            <a:pPr algn="l">
              <a:lnSpc>
                <a:spcPts val="5179"/>
              </a:lnSpc>
            </a:pPr>
            <a:r>
              <a:rPr lang="en-US" sz="3699" spc="-73">
                <a:solidFill>
                  <a:srgbClr val="291B25"/>
                </a:solidFill>
                <a:latin typeface="Arbutus Slab"/>
                <a:ea typeface="Arbutus Slab"/>
                <a:cs typeface="Arbutus Slab"/>
                <a:sym typeface="Arbutus Slab"/>
              </a:rPr>
              <a:t>Pseudo differentiation</a:t>
            </a:r>
          </a:p>
        </p:txBody>
      </p:sp>
      <p:sp>
        <p:nvSpPr>
          <p:cNvPr name="TextBox 15" id="15"/>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IV. Control</a:t>
            </a:r>
          </a:p>
        </p:txBody>
      </p:sp>
      <p:grpSp>
        <p:nvGrpSpPr>
          <p:cNvPr name="Group 16" id="16"/>
          <p:cNvGrpSpPr/>
          <p:nvPr/>
        </p:nvGrpSpPr>
        <p:grpSpPr>
          <a:xfrm rot="5400000">
            <a:off x="8776764" y="775764"/>
            <a:ext cx="734472" cy="18288000"/>
            <a:chOff x="0" y="0"/>
            <a:chExt cx="193441" cy="4816593"/>
          </a:xfrm>
        </p:grpSpPr>
        <p:sp>
          <p:nvSpPr>
            <p:cNvPr name="Freeform 17" id="17"/>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18" id="18"/>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19" id="19"/>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11</a:t>
            </a:r>
          </a:p>
        </p:txBody>
      </p:sp>
      <p:sp>
        <p:nvSpPr>
          <p:cNvPr name="TextBox 20" id="20"/>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21" id="21"/>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sp>
        <p:nvSpPr>
          <p:cNvPr name="TextBox 3" id="3"/>
          <p:cNvSpPr txBox="true"/>
          <p:nvPr/>
        </p:nvSpPr>
        <p:spPr>
          <a:xfrm rot="0">
            <a:off x="1028700" y="2331809"/>
            <a:ext cx="11645907"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PD controller pitch angle:</a:t>
            </a:r>
          </a:p>
        </p:txBody>
      </p:sp>
      <p:pic>
        <p:nvPicPr>
          <p:cNvPr name="Picture 4" id="4"/>
          <p:cNvPicPr>
            <a:picLocks noChangeAspect="true"/>
          </p:cNvPicPr>
          <p:nvPr/>
        </p:nvPicPr>
        <p:blipFill>
          <a:blip r:embed="rId3"/>
          <a:stretch>
            <a:fillRect/>
          </a:stretch>
        </p:blipFill>
        <p:spPr>
          <a:xfrm rot="0">
            <a:off x="84483" y="2318570"/>
            <a:ext cx="11330602" cy="2880764"/>
          </a:xfrm>
          <a:prstGeom prst="rect">
            <a:avLst/>
          </a:prstGeom>
        </p:spPr>
      </p:pic>
      <p:pic>
        <p:nvPicPr>
          <p:cNvPr name="Picture 5" id="5"/>
          <p:cNvPicPr>
            <a:picLocks noChangeAspect="true"/>
          </p:cNvPicPr>
          <p:nvPr/>
        </p:nvPicPr>
        <p:blipFill>
          <a:blip r:embed="rId4"/>
          <a:stretch>
            <a:fillRect/>
          </a:stretch>
        </p:blipFill>
        <p:spPr>
          <a:xfrm rot="0">
            <a:off x="-135891" y="3520063"/>
            <a:ext cx="13975088" cy="3055078"/>
          </a:xfrm>
          <a:prstGeom prst="rect">
            <a:avLst/>
          </a:prstGeom>
        </p:spPr>
      </p:pic>
      <p:grpSp>
        <p:nvGrpSpPr>
          <p:cNvPr name="Group 6" id="6"/>
          <p:cNvGrpSpPr/>
          <p:nvPr/>
        </p:nvGrpSpPr>
        <p:grpSpPr>
          <a:xfrm rot="0">
            <a:off x="11458727" y="4578594"/>
            <a:ext cx="856059" cy="938017"/>
            <a:chOff x="0" y="0"/>
            <a:chExt cx="225464" cy="247050"/>
          </a:xfrm>
        </p:grpSpPr>
        <p:sp>
          <p:nvSpPr>
            <p:cNvPr name="Freeform 7" id="7"/>
            <p:cNvSpPr/>
            <p:nvPr/>
          </p:nvSpPr>
          <p:spPr>
            <a:xfrm flipH="false" flipV="false" rot="0">
              <a:off x="0" y="0"/>
              <a:ext cx="225464" cy="247050"/>
            </a:xfrm>
            <a:custGeom>
              <a:avLst/>
              <a:gdLst/>
              <a:ahLst/>
              <a:cxnLst/>
              <a:rect r="r" b="b" t="t" l="l"/>
              <a:pathLst>
                <a:path h="247050" w="225464">
                  <a:moveTo>
                    <a:pt x="0" y="0"/>
                  </a:moveTo>
                  <a:lnTo>
                    <a:pt x="225464" y="0"/>
                  </a:lnTo>
                  <a:lnTo>
                    <a:pt x="225464" y="247050"/>
                  </a:lnTo>
                  <a:lnTo>
                    <a:pt x="0" y="247050"/>
                  </a:lnTo>
                  <a:close/>
                </a:path>
              </a:pathLst>
            </a:custGeom>
            <a:solidFill>
              <a:srgbClr val="000000">
                <a:alpha val="0"/>
              </a:srgbClr>
            </a:solidFill>
            <a:ln w="38100" cap="sq">
              <a:solidFill>
                <a:srgbClr val="FF5757"/>
              </a:solidFill>
              <a:prstDash val="solid"/>
              <a:miter/>
            </a:ln>
          </p:spPr>
        </p:sp>
        <p:sp>
          <p:nvSpPr>
            <p:cNvPr name="TextBox 8" id="8"/>
            <p:cNvSpPr txBox="true"/>
            <p:nvPr/>
          </p:nvSpPr>
          <p:spPr>
            <a:xfrm>
              <a:off x="0" y="-47625"/>
              <a:ext cx="225464" cy="294675"/>
            </a:xfrm>
            <a:prstGeom prst="rect">
              <a:avLst/>
            </a:prstGeom>
          </p:spPr>
          <p:txBody>
            <a:bodyPr anchor="ctr" rtlCol="false" tIns="50800" lIns="50800" bIns="50800" rIns="50800"/>
            <a:lstStyle/>
            <a:p>
              <a:pPr algn="ctr">
                <a:lnSpc>
                  <a:spcPts val="3499"/>
                </a:lnSpc>
              </a:pPr>
            </a:p>
          </p:txBody>
        </p:sp>
      </p:grpSp>
      <p:pic>
        <p:nvPicPr>
          <p:cNvPr name="Picture 9" id="9"/>
          <p:cNvPicPr>
            <a:picLocks noChangeAspect="true"/>
          </p:cNvPicPr>
          <p:nvPr/>
        </p:nvPicPr>
        <p:blipFill>
          <a:blip r:embed="rId5"/>
          <a:stretch>
            <a:fillRect/>
          </a:stretch>
        </p:blipFill>
        <p:spPr>
          <a:xfrm rot="0">
            <a:off x="517416" y="5327892"/>
            <a:ext cx="6135404" cy="1748464"/>
          </a:xfrm>
          <a:prstGeom prst="rect">
            <a:avLst/>
          </a:prstGeom>
        </p:spPr>
      </p:pic>
      <p:pic>
        <p:nvPicPr>
          <p:cNvPr name="Picture 10" id="10"/>
          <p:cNvPicPr>
            <a:picLocks noChangeAspect="true"/>
          </p:cNvPicPr>
          <p:nvPr/>
        </p:nvPicPr>
        <p:blipFill>
          <a:blip r:embed="rId6"/>
          <a:stretch>
            <a:fillRect/>
          </a:stretch>
        </p:blipFill>
        <p:spPr>
          <a:xfrm rot="0">
            <a:off x="-594360" y="5265862"/>
            <a:ext cx="19476720" cy="4170198"/>
          </a:xfrm>
          <a:prstGeom prst="rect">
            <a:avLst/>
          </a:prstGeom>
        </p:spPr>
      </p:pic>
      <p:pic>
        <p:nvPicPr>
          <p:cNvPr name="Picture 11" id="11"/>
          <p:cNvPicPr>
            <a:picLocks noChangeAspect="true"/>
          </p:cNvPicPr>
          <p:nvPr/>
        </p:nvPicPr>
        <p:blipFill>
          <a:blip r:embed="rId7"/>
          <a:stretch>
            <a:fillRect/>
          </a:stretch>
        </p:blipFill>
        <p:spPr>
          <a:xfrm rot="0">
            <a:off x="529870" y="7742247"/>
            <a:ext cx="5985962" cy="2017994"/>
          </a:xfrm>
          <a:prstGeom prst="rect">
            <a:avLst/>
          </a:prstGeom>
        </p:spPr>
      </p:pic>
      <p:grpSp>
        <p:nvGrpSpPr>
          <p:cNvPr name="Group 12" id="12"/>
          <p:cNvGrpSpPr/>
          <p:nvPr/>
        </p:nvGrpSpPr>
        <p:grpSpPr>
          <a:xfrm rot="0">
            <a:off x="16503151" y="6993697"/>
            <a:ext cx="822633" cy="717400"/>
            <a:chOff x="0" y="0"/>
            <a:chExt cx="216660" cy="188945"/>
          </a:xfrm>
        </p:grpSpPr>
        <p:sp>
          <p:nvSpPr>
            <p:cNvPr name="Freeform 13" id="13"/>
            <p:cNvSpPr/>
            <p:nvPr/>
          </p:nvSpPr>
          <p:spPr>
            <a:xfrm flipH="false" flipV="false" rot="0">
              <a:off x="0" y="0"/>
              <a:ext cx="216660" cy="188945"/>
            </a:xfrm>
            <a:custGeom>
              <a:avLst/>
              <a:gdLst/>
              <a:ahLst/>
              <a:cxnLst/>
              <a:rect r="r" b="b" t="t" l="l"/>
              <a:pathLst>
                <a:path h="188945" w="216660">
                  <a:moveTo>
                    <a:pt x="0" y="0"/>
                  </a:moveTo>
                  <a:lnTo>
                    <a:pt x="216660" y="0"/>
                  </a:lnTo>
                  <a:lnTo>
                    <a:pt x="216660" y="188945"/>
                  </a:lnTo>
                  <a:lnTo>
                    <a:pt x="0" y="188945"/>
                  </a:lnTo>
                  <a:close/>
                </a:path>
              </a:pathLst>
            </a:custGeom>
            <a:solidFill>
              <a:srgbClr val="000000">
                <a:alpha val="0"/>
              </a:srgbClr>
            </a:solidFill>
            <a:ln w="38100" cap="sq">
              <a:solidFill>
                <a:srgbClr val="0097B2"/>
              </a:solidFill>
              <a:prstDash val="solid"/>
              <a:miter/>
            </a:ln>
          </p:spPr>
        </p:sp>
        <p:sp>
          <p:nvSpPr>
            <p:cNvPr name="TextBox 14" id="14"/>
            <p:cNvSpPr txBox="true"/>
            <p:nvPr/>
          </p:nvSpPr>
          <p:spPr>
            <a:xfrm>
              <a:off x="0" y="-47625"/>
              <a:ext cx="216660" cy="236570"/>
            </a:xfrm>
            <a:prstGeom prst="rect">
              <a:avLst/>
            </a:prstGeom>
          </p:spPr>
          <p:txBody>
            <a:bodyPr anchor="ctr" rtlCol="false" tIns="50800" lIns="50800" bIns="50800" rIns="50800"/>
            <a:lstStyle/>
            <a:p>
              <a:pPr algn="ctr">
                <a:lnSpc>
                  <a:spcPts val="3499"/>
                </a:lnSpc>
              </a:pPr>
            </a:p>
          </p:txBody>
        </p:sp>
      </p:grpSp>
      <p:sp>
        <p:nvSpPr>
          <p:cNvPr name="TextBox 15" id="15"/>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IV. Control</a:t>
            </a:r>
          </a:p>
        </p:txBody>
      </p:sp>
      <p:grpSp>
        <p:nvGrpSpPr>
          <p:cNvPr name="Group 16" id="16"/>
          <p:cNvGrpSpPr/>
          <p:nvPr/>
        </p:nvGrpSpPr>
        <p:grpSpPr>
          <a:xfrm rot="0">
            <a:off x="6559862" y="6993697"/>
            <a:ext cx="703107" cy="717400"/>
            <a:chOff x="0" y="0"/>
            <a:chExt cx="185181" cy="188945"/>
          </a:xfrm>
        </p:grpSpPr>
        <p:sp>
          <p:nvSpPr>
            <p:cNvPr name="Freeform 17" id="17"/>
            <p:cNvSpPr/>
            <p:nvPr/>
          </p:nvSpPr>
          <p:spPr>
            <a:xfrm flipH="false" flipV="false" rot="0">
              <a:off x="0" y="0"/>
              <a:ext cx="185181" cy="188945"/>
            </a:xfrm>
            <a:custGeom>
              <a:avLst/>
              <a:gdLst/>
              <a:ahLst/>
              <a:cxnLst/>
              <a:rect r="r" b="b" t="t" l="l"/>
              <a:pathLst>
                <a:path h="188945" w="185181">
                  <a:moveTo>
                    <a:pt x="0" y="0"/>
                  </a:moveTo>
                  <a:lnTo>
                    <a:pt x="185181" y="0"/>
                  </a:lnTo>
                  <a:lnTo>
                    <a:pt x="185181" y="188945"/>
                  </a:lnTo>
                  <a:lnTo>
                    <a:pt x="0" y="188945"/>
                  </a:lnTo>
                  <a:close/>
                </a:path>
              </a:pathLst>
            </a:custGeom>
            <a:solidFill>
              <a:srgbClr val="000000">
                <a:alpha val="0"/>
              </a:srgbClr>
            </a:solidFill>
            <a:ln w="38100" cap="sq">
              <a:solidFill>
                <a:srgbClr val="5E17EB"/>
              </a:solidFill>
              <a:prstDash val="solid"/>
              <a:miter/>
            </a:ln>
          </p:spPr>
        </p:sp>
        <p:sp>
          <p:nvSpPr>
            <p:cNvPr name="TextBox 18" id="18"/>
            <p:cNvSpPr txBox="true"/>
            <p:nvPr/>
          </p:nvSpPr>
          <p:spPr>
            <a:xfrm>
              <a:off x="0" y="-47625"/>
              <a:ext cx="185181" cy="236570"/>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9720239" y="6993697"/>
            <a:ext cx="750629" cy="717400"/>
            <a:chOff x="0" y="0"/>
            <a:chExt cx="197696" cy="188945"/>
          </a:xfrm>
        </p:grpSpPr>
        <p:sp>
          <p:nvSpPr>
            <p:cNvPr name="Freeform 20" id="20"/>
            <p:cNvSpPr/>
            <p:nvPr/>
          </p:nvSpPr>
          <p:spPr>
            <a:xfrm flipH="false" flipV="false" rot="0">
              <a:off x="0" y="0"/>
              <a:ext cx="197696" cy="188945"/>
            </a:xfrm>
            <a:custGeom>
              <a:avLst/>
              <a:gdLst/>
              <a:ahLst/>
              <a:cxnLst/>
              <a:rect r="r" b="b" t="t" l="l"/>
              <a:pathLst>
                <a:path h="188945" w="197696">
                  <a:moveTo>
                    <a:pt x="0" y="0"/>
                  </a:moveTo>
                  <a:lnTo>
                    <a:pt x="197696" y="0"/>
                  </a:lnTo>
                  <a:lnTo>
                    <a:pt x="197696" y="188945"/>
                  </a:lnTo>
                  <a:lnTo>
                    <a:pt x="0" y="188945"/>
                  </a:lnTo>
                  <a:close/>
                </a:path>
              </a:pathLst>
            </a:custGeom>
            <a:solidFill>
              <a:srgbClr val="000000">
                <a:alpha val="0"/>
              </a:srgbClr>
            </a:solidFill>
            <a:ln w="38100" cap="sq">
              <a:solidFill>
                <a:srgbClr val="5E17EB"/>
              </a:solidFill>
              <a:prstDash val="solid"/>
              <a:miter/>
            </a:ln>
          </p:spPr>
        </p:sp>
        <p:sp>
          <p:nvSpPr>
            <p:cNvPr name="TextBox 21" id="21"/>
            <p:cNvSpPr txBox="true"/>
            <p:nvPr/>
          </p:nvSpPr>
          <p:spPr>
            <a:xfrm>
              <a:off x="0" y="-47625"/>
              <a:ext cx="197696" cy="236570"/>
            </a:xfrm>
            <a:prstGeom prst="rect">
              <a:avLst/>
            </a:prstGeom>
          </p:spPr>
          <p:txBody>
            <a:bodyPr anchor="ctr" rtlCol="false" tIns="50800" lIns="50800" bIns="50800" rIns="50800"/>
            <a:lstStyle/>
            <a:p>
              <a:pPr algn="ctr">
                <a:lnSpc>
                  <a:spcPts val="3499"/>
                </a:lnSpc>
              </a:pPr>
            </a:p>
          </p:txBody>
        </p:sp>
      </p:grpSp>
      <p:grpSp>
        <p:nvGrpSpPr>
          <p:cNvPr name="Group 22" id="22"/>
          <p:cNvGrpSpPr/>
          <p:nvPr/>
        </p:nvGrpSpPr>
        <p:grpSpPr>
          <a:xfrm rot="0">
            <a:off x="12110720" y="6993697"/>
            <a:ext cx="793943" cy="717400"/>
            <a:chOff x="0" y="0"/>
            <a:chExt cx="209104" cy="188945"/>
          </a:xfrm>
        </p:grpSpPr>
        <p:sp>
          <p:nvSpPr>
            <p:cNvPr name="Freeform 23" id="23"/>
            <p:cNvSpPr/>
            <p:nvPr/>
          </p:nvSpPr>
          <p:spPr>
            <a:xfrm flipH="false" flipV="false" rot="0">
              <a:off x="0" y="0"/>
              <a:ext cx="209104" cy="188945"/>
            </a:xfrm>
            <a:custGeom>
              <a:avLst/>
              <a:gdLst/>
              <a:ahLst/>
              <a:cxnLst/>
              <a:rect r="r" b="b" t="t" l="l"/>
              <a:pathLst>
                <a:path h="188945" w="209104">
                  <a:moveTo>
                    <a:pt x="0" y="0"/>
                  </a:moveTo>
                  <a:lnTo>
                    <a:pt x="209104" y="0"/>
                  </a:lnTo>
                  <a:lnTo>
                    <a:pt x="209104" y="188945"/>
                  </a:lnTo>
                  <a:lnTo>
                    <a:pt x="0" y="188945"/>
                  </a:lnTo>
                  <a:close/>
                </a:path>
              </a:pathLst>
            </a:custGeom>
            <a:solidFill>
              <a:srgbClr val="000000">
                <a:alpha val="0"/>
              </a:srgbClr>
            </a:solidFill>
            <a:ln w="38100" cap="sq">
              <a:solidFill>
                <a:srgbClr val="5E17EB"/>
              </a:solidFill>
              <a:prstDash val="solid"/>
              <a:miter/>
            </a:ln>
          </p:spPr>
        </p:sp>
        <p:sp>
          <p:nvSpPr>
            <p:cNvPr name="TextBox 24" id="24"/>
            <p:cNvSpPr txBox="true"/>
            <p:nvPr/>
          </p:nvSpPr>
          <p:spPr>
            <a:xfrm>
              <a:off x="0" y="-47625"/>
              <a:ext cx="209104" cy="236570"/>
            </a:xfrm>
            <a:prstGeom prst="rect">
              <a:avLst/>
            </a:prstGeom>
          </p:spPr>
          <p:txBody>
            <a:bodyPr anchor="ctr" rtlCol="false" tIns="50800" lIns="50800" bIns="50800" rIns="50800"/>
            <a:lstStyle/>
            <a:p>
              <a:pPr algn="ctr">
                <a:lnSpc>
                  <a:spcPts val="3499"/>
                </a:lnSpc>
              </a:pPr>
            </a:p>
          </p:txBody>
        </p:sp>
      </p:grpSp>
      <p:grpSp>
        <p:nvGrpSpPr>
          <p:cNvPr name="Group 25" id="25"/>
          <p:cNvGrpSpPr/>
          <p:nvPr/>
        </p:nvGrpSpPr>
        <p:grpSpPr>
          <a:xfrm rot="5400000">
            <a:off x="8776764" y="775764"/>
            <a:ext cx="734472" cy="18288000"/>
            <a:chOff x="0" y="0"/>
            <a:chExt cx="193441" cy="4816593"/>
          </a:xfrm>
        </p:grpSpPr>
        <p:sp>
          <p:nvSpPr>
            <p:cNvPr name="Freeform 26" id="26"/>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27" id="27"/>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28" id="28"/>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12</a:t>
            </a:r>
          </a:p>
        </p:txBody>
      </p:sp>
      <p:sp>
        <p:nvSpPr>
          <p:cNvPr name="TextBox 29" id="29"/>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30" id="30"/>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pic>
        <p:nvPicPr>
          <p:cNvPr name="Picture 3" id="3"/>
          <p:cNvPicPr>
            <a:picLocks noChangeAspect="true"/>
          </p:cNvPicPr>
          <p:nvPr/>
        </p:nvPicPr>
        <p:blipFill>
          <a:blip r:embed="rId3"/>
          <a:stretch>
            <a:fillRect/>
          </a:stretch>
        </p:blipFill>
        <p:spPr>
          <a:xfrm rot="0">
            <a:off x="-134069" y="7015413"/>
            <a:ext cx="13135902" cy="2851790"/>
          </a:xfrm>
          <a:prstGeom prst="rect">
            <a:avLst/>
          </a:prstGeom>
        </p:spPr>
      </p:pic>
      <p:pic>
        <p:nvPicPr>
          <p:cNvPr name="Picture 4" id="4"/>
          <p:cNvPicPr>
            <a:picLocks noChangeAspect="true"/>
          </p:cNvPicPr>
          <p:nvPr/>
        </p:nvPicPr>
        <p:blipFill>
          <a:blip r:embed="rId4"/>
          <a:stretch>
            <a:fillRect/>
          </a:stretch>
        </p:blipFill>
        <p:spPr>
          <a:xfrm rot="0">
            <a:off x="-226845" y="1750601"/>
            <a:ext cx="15066540" cy="3173563"/>
          </a:xfrm>
          <a:prstGeom prst="rect">
            <a:avLst/>
          </a:prstGeom>
        </p:spPr>
      </p:pic>
      <p:pic>
        <p:nvPicPr>
          <p:cNvPr name="Picture 5" id="5"/>
          <p:cNvPicPr>
            <a:picLocks noChangeAspect="true"/>
          </p:cNvPicPr>
          <p:nvPr/>
        </p:nvPicPr>
        <p:blipFill>
          <a:blip r:embed="rId5"/>
          <a:stretch>
            <a:fillRect/>
          </a:stretch>
        </p:blipFill>
        <p:spPr>
          <a:xfrm rot="0">
            <a:off x="476639" y="3383259"/>
            <a:ext cx="6624734" cy="1766595"/>
          </a:xfrm>
          <a:prstGeom prst="rect">
            <a:avLst/>
          </a:prstGeom>
        </p:spPr>
      </p:pic>
      <p:pic>
        <p:nvPicPr>
          <p:cNvPr name="Picture 6" id="6"/>
          <p:cNvPicPr>
            <a:picLocks noChangeAspect="true"/>
          </p:cNvPicPr>
          <p:nvPr/>
        </p:nvPicPr>
        <p:blipFill>
          <a:blip r:embed="rId6"/>
          <a:stretch>
            <a:fillRect/>
          </a:stretch>
        </p:blipFill>
        <p:spPr>
          <a:xfrm rot="0">
            <a:off x="-476299" y="3359494"/>
            <a:ext cx="18059990" cy="3707881"/>
          </a:xfrm>
          <a:prstGeom prst="rect">
            <a:avLst/>
          </a:prstGeom>
        </p:spPr>
      </p:pic>
      <p:grpSp>
        <p:nvGrpSpPr>
          <p:cNvPr name="Group 7" id="7"/>
          <p:cNvGrpSpPr/>
          <p:nvPr/>
        </p:nvGrpSpPr>
        <p:grpSpPr>
          <a:xfrm rot="0">
            <a:off x="1028700" y="5762401"/>
            <a:ext cx="10397757" cy="1221784"/>
            <a:chOff x="0" y="0"/>
            <a:chExt cx="2738504" cy="321787"/>
          </a:xfrm>
        </p:grpSpPr>
        <p:sp>
          <p:nvSpPr>
            <p:cNvPr name="Freeform 8" id="8"/>
            <p:cNvSpPr/>
            <p:nvPr/>
          </p:nvSpPr>
          <p:spPr>
            <a:xfrm flipH="false" flipV="false" rot="0">
              <a:off x="0" y="0"/>
              <a:ext cx="2738504" cy="321787"/>
            </a:xfrm>
            <a:custGeom>
              <a:avLst/>
              <a:gdLst/>
              <a:ahLst/>
              <a:cxnLst/>
              <a:rect r="r" b="b" t="t" l="l"/>
              <a:pathLst>
                <a:path h="321787" w="2738504">
                  <a:moveTo>
                    <a:pt x="0" y="0"/>
                  </a:moveTo>
                  <a:lnTo>
                    <a:pt x="2738504" y="0"/>
                  </a:lnTo>
                  <a:lnTo>
                    <a:pt x="2738504" y="321787"/>
                  </a:lnTo>
                  <a:lnTo>
                    <a:pt x="0" y="321787"/>
                  </a:lnTo>
                  <a:close/>
                </a:path>
              </a:pathLst>
            </a:custGeom>
            <a:solidFill>
              <a:srgbClr val="000000">
                <a:alpha val="0"/>
              </a:srgbClr>
            </a:solidFill>
            <a:ln w="38100" cap="sq">
              <a:solidFill>
                <a:srgbClr val="0097B2"/>
              </a:solidFill>
              <a:prstDash val="solid"/>
              <a:miter/>
            </a:ln>
          </p:spPr>
        </p:sp>
        <p:sp>
          <p:nvSpPr>
            <p:cNvPr name="TextBox 9" id="9"/>
            <p:cNvSpPr txBox="true"/>
            <p:nvPr/>
          </p:nvSpPr>
          <p:spPr>
            <a:xfrm>
              <a:off x="0" y="-47625"/>
              <a:ext cx="2738504" cy="369412"/>
            </a:xfrm>
            <a:prstGeom prst="rect">
              <a:avLst/>
            </a:prstGeom>
          </p:spPr>
          <p:txBody>
            <a:bodyPr anchor="ctr" rtlCol="false" tIns="50800" lIns="50800" bIns="50800" rIns="50800"/>
            <a:lstStyle/>
            <a:p>
              <a:pPr algn="ctr">
                <a:lnSpc>
                  <a:spcPts val="3499"/>
                </a:lnSpc>
              </a:pPr>
            </a:p>
          </p:txBody>
        </p:sp>
      </p:grpSp>
      <p:pic>
        <p:nvPicPr>
          <p:cNvPr name="Picture 10" id="10"/>
          <p:cNvPicPr>
            <a:picLocks noChangeAspect="true"/>
          </p:cNvPicPr>
          <p:nvPr/>
        </p:nvPicPr>
        <p:blipFill>
          <a:blip r:embed="rId7"/>
          <a:stretch>
            <a:fillRect/>
          </a:stretch>
        </p:blipFill>
        <p:spPr>
          <a:xfrm rot="0">
            <a:off x="64674" y="4852071"/>
            <a:ext cx="12394672" cy="3050905"/>
          </a:xfrm>
          <a:prstGeom prst="rect">
            <a:avLst/>
          </a:prstGeom>
        </p:spPr>
      </p:pic>
      <p:grpSp>
        <p:nvGrpSpPr>
          <p:cNvPr name="Group 11" id="11"/>
          <p:cNvGrpSpPr/>
          <p:nvPr/>
        </p:nvGrpSpPr>
        <p:grpSpPr>
          <a:xfrm rot="-5400000">
            <a:off x="11752887" y="5900762"/>
            <a:ext cx="612382" cy="935257"/>
            <a:chOff x="0" y="0"/>
            <a:chExt cx="532200" cy="812800"/>
          </a:xfrm>
        </p:grpSpPr>
        <p:sp>
          <p:nvSpPr>
            <p:cNvPr name="Freeform 12" id="12"/>
            <p:cNvSpPr/>
            <p:nvPr/>
          </p:nvSpPr>
          <p:spPr>
            <a:xfrm flipH="false" flipV="false" rot="0">
              <a:off x="0" y="0"/>
              <a:ext cx="532200" cy="812800"/>
            </a:xfrm>
            <a:custGeom>
              <a:avLst/>
              <a:gdLst/>
              <a:ahLst/>
              <a:cxnLst/>
              <a:rect r="r" b="b" t="t" l="l"/>
              <a:pathLst>
                <a:path h="812800" w="532200">
                  <a:moveTo>
                    <a:pt x="266100" y="812800"/>
                  </a:moveTo>
                  <a:lnTo>
                    <a:pt x="0" y="406400"/>
                  </a:lnTo>
                  <a:lnTo>
                    <a:pt x="203200" y="406400"/>
                  </a:lnTo>
                  <a:lnTo>
                    <a:pt x="203200" y="0"/>
                  </a:lnTo>
                  <a:lnTo>
                    <a:pt x="329000" y="0"/>
                  </a:lnTo>
                  <a:lnTo>
                    <a:pt x="329000" y="406400"/>
                  </a:lnTo>
                  <a:lnTo>
                    <a:pt x="532200" y="406400"/>
                  </a:lnTo>
                  <a:lnTo>
                    <a:pt x="266100" y="812800"/>
                  </a:lnTo>
                  <a:close/>
                </a:path>
              </a:pathLst>
            </a:custGeom>
            <a:solidFill>
              <a:srgbClr val="0097B2"/>
            </a:solidFill>
          </p:spPr>
        </p:sp>
        <p:sp>
          <p:nvSpPr>
            <p:cNvPr name="TextBox 13" id="13"/>
            <p:cNvSpPr txBox="true"/>
            <p:nvPr/>
          </p:nvSpPr>
          <p:spPr>
            <a:xfrm>
              <a:off x="203200" y="-47625"/>
              <a:ext cx="125800" cy="758825"/>
            </a:xfrm>
            <a:prstGeom prst="rect">
              <a:avLst/>
            </a:prstGeom>
          </p:spPr>
          <p:txBody>
            <a:bodyPr anchor="ctr" rtlCol="false" tIns="50800" lIns="50800" bIns="50800" rIns="50800"/>
            <a:lstStyle/>
            <a:p>
              <a:pPr algn="ctr">
                <a:lnSpc>
                  <a:spcPts val="3499"/>
                </a:lnSpc>
              </a:pPr>
            </a:p>
          </p:txBody>
        </p:sp>
      </p:grpSp>
      <p:sp>
        <p:nvSpPr>
          <p:cNvPr name="TextBox 14" id="14"/>
          <p:cNvSpPr txBox="true"/>
          <p:nvPr/>
        </p:nvSpPr>
        <p:spPr>
          <a:xfrm rot="0">
            <a:off x="1028700" y="7116297"/>
            <a:ext cx="7662762"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PD controller fork angle:</a:t>
            </a:r>
          </a:p>
        </p:txBody>
      </p:sp>
      <p:sp>
        <p:nvSpPr>
          <p:cNvPr name="TextBox 15" id="15"/>
          <p:cNvSpPr txBox="true"/>
          <p:nvPr/>
        </p:nvSpPr>
        <p:spPr>
          <a:xfrm rot="0">
            <a:off x="1028700" y="2277075"/>
            <a:ext cx="9093419"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Fork Disturbance Observer (FDOB):</a:t>
            </a:r>
          </a:p>
        </p:txBody>
      </p:sp>
      <p:sp>
        <p:nvSpPr>
          <p:cNvPr name="TextBox 16" id="16"/>
          <p:cNvSpPr txBox="true"/>
          <p:nvPr/>
        </p:nvSpPr>
        <p:spPr>
          <a:xfrm rot="0">
            <a:off x="12691698" y="6004657"/>
            <a:ext cx="5323751"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Pseudo differentiation</a:t>
            </a:r>
          </a:p>
        </p:txBody>
      </p:sp>
      <p:grpSp>
        <p:nvGrpSpPr>
          <p:cNvPr name="Group 17" id="17"/>
          <p:cNvGrpSpPr/>
          <p:nvPr/>
        </p:nvGrpSpPr>
        <p:grpSpPr>
          <a:xfrm rot="0">
            <a:off x="10850731" y="7989379"/>
            <a:ext cx="1151452" cy="903861"/>
            <a:chOff x="0" y="0"/>
            <a:chExt cx="303263" cy="238054"/>
          </a:xfrm>
        </p:grpSpPr>
        <p:sp>
          <p:nvSpPr>
            <p:cNvPr name="Freeform 18" id="18"/>
            <p:cNvSpPr/>
            <p:nvPr/>
          </p:nvSpPr>
          <p:spPr>
            <a:xfrm flipH="false" flipV="false" rot="0">
              <a:off x="0" y="0"/>
              <a:ext cx="303263" cy="238054"/>
            </a:xfrm>
            <a:custGeom>
              <a:avLst/>
              <a:gdLst/>
              <a:ahLst/>
              <a:cxnLst/>
              <a:rect r="r" b="b" t="t" l="l"/>
              <a:pathLst>
                <a:path h="238054" w="303263">
                  <a:moveTo>
                    <a:pt x="0" y="0"/>
                  </a:moveTo>
                  <a:lnTo>
                    <a:pt x="303263" y="0"/>
                  </a:lnTo>
                  <a:lnTo>
                    <a:pt x="303263" y="238054"/>
                  </a:lnTo>
                  <a:lnTo>
                    <a:pt x="0" y="238054"/>
                  </a:lnTo>
                  <a:close/>
                </a:path>
              </a:pathLst>
            </a:custGeom>
            <a:solidFill>
              <a:srgbClr val="000000">
                <a:alpha val="0"/>
              </a:srgbClr>
            </a:solidFill>
            <a:ln w="38100" cap="sq">
              <a:solidFill>
                <a:srgbClr val="0097B2"/>
              </a:solidFill>
              <a:prstDash val="solid"/>
              <a:miter/>
            </a:ln>
          </p:spPr>
        </p:sp>
        <p:sp>
          <p:nvSpPr>
            <p:cNvPr name="TextBox 19" id="19"/>
            <p:cNvSpPr txBox="true"/>
            <p:nvPr/>
          </p:nvSpPr>
          <p:spPr>
            <a:xfrm>
              <a:off x="0" y="-47625"/>
              <a:ext cx="303263" cy="285679"/>
            </a:xfrm>
            <a:prstGeom prst="rect">
              <a:avLst/>
            </a:prstGeom>
          </p:spPr>
          <p:txBody>
            <a:bodyPr anchor="ctr" rtlCol="false" tIns="50800" lIns="50800" bIns="50800" rIns="50800"/>
            <a:lstStyle/>
            <a:p>
              <a:pPr algn="ctr">
                <a:lnSpc>
                  <a:spcPts val="3499"/>
                </a:lnSpc>
              </a:pPr>
            </a:p>
          </p:txBody>
        </p:sp>
      </p:grpSp>
      <p:sp>
        <p:nvSpPr>
          <p:cNvPr name="TextBox 20" id="20"/>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IV. Control</a:t>
            </a:r>
          </a:p>
        </p:txBody>
      </p:sp>
      <p:grpSp>
        <p:nvGrpSpPr>
          <p:cNvPr name="Group 21" id="21"/>
          <p:cNvGrpSpPr/>
          <p:nvPr/>
        </p:nvGrpSpPr>
        <p:grpSpPr>
          <a:xfrm rot="5400000">
            <a:off x="8776764" y="775764"/>
            <a:ext cx="734472" cy="18288000"/>
            <a:chOff x="0" y="0"/>
            <a:chExt cx="193441" cy="4816593"/>
          </a:xfrm>
        </p:grpSpPr>
        <p:sp>
          <p:nvSpPr>
            <p:cNvPr name="Freeform 22" id="22"/>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23" id="23"/>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24" id="24"/>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13</a:t>
            </a:r>
          </a:p>
        </p:txBody>
      </p:sp>
      <p:sp>
        <p:nvSpPr>
          <p:cNvPr name="TextBox 25" id="25"/>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26" id="26"/>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pic>
        <p:nvPicPr>
          <p:cNvPr name="Picture 3" id="3"/>
          <p:cNvPicPr>
            <a:picLocks noChangeAspect="true"/>
          </p:cNvPicPr>
          <p:nvPr/>
        </p:nvPicPr>
        <p:blipFill>
          <a:blip r:embed="rId3"/>
          <a:stretch>
            <a:fillRect/>
          </a:stretch>
        </p:blipFill>
        <p:spPr>
          <a:xfrm rot="0">
            <a:off x="665911" y="2897028"/>
            <a:ext cx="4979011" cy="1492308"/>
          </a:xfrm>
          <a:prstGeom prst="rect">
            <a:avLst/>
          </a:prstGeom>
        </p:spPr>
      </p:pic>
      <p:pic>
        <p:nvPicPr>
          <p:cNvPr name="Picture 4" id="4"/>
          <p:cNvPicPr>
            <a:picLocks noChangeAspect="true"/>
          </p:cNvPicPr>
          <p:nvPr/>
        </p:nvPicPr>
        <p:blipFill>
          <a:blip r:embed="rId4"/>
          <a:stretch>
            <a:fillRect/>
          </a:stretch>
        </p:blipFill>
        <p:spPr>
          <a:xfrm rot="0">
            <a:off x="254315" y="4836388"/>
            <a:ext cx="9918174" cy="2315502"/>
          </a:xfrm>
          <a:prstGeom prst="rect">
            <a:avLst/>
          </a:prstGeom>
        </p:spPr>
      </p:pic>
      <p:pic>
        <p:nvPicPr>
          <p:cNvPr name="Picture 5" id="5"/>
          <p:cNvPicPr>
            <a:picLocks noChangeAspect="true"/>
          </p:cNvPicPr>
          <p:nvPr/>
        </p:nvPicPr>
        <p:blipFill>
          <a:blip r:embed="rId5"/>
          <a:stretch>
            <a:fillRect/>
          </a:stretch>
        </p:blipFill>
        <p:spPr>
          <a:xfrm rot="0">
            <a:off x="-397408" y="3043611"/>
            <a:ext cx="17113297" cy="3550099"/>
          </a:xfrm>
          <a:prstGeom prst="rect">
            <a:avLst/>
          </a:prstGeom>
        </p:spPr>
      </p:pic>
      <p:grpSp>
        <p:nvGrpSpPr>
          <p:cNvPr name="Group 6" id="6"/>
          <p:cNvGrpSpPr/>
          <p:nvPr/>
        </p:nvGrpSpPr>
        <p:grpSpPr>
          <a:xfrm rot="0">
            <a:off x="1028700" y="6820675"/>
            <a:ext cx="12994906" cy="1221784"/>
            <a:chOff x="0" y="0"/>
            <a:chExt cx="3422527" cy="321787"/>
          </a:xfrm>
        </p:grpSpPr>
        <p:sp>
          <p:nvSpPr>
            <p:cNvPr name="Freeform 7" id="7"/>
            <p:cNvSpPr/>
            <p:nvPr/>
          </p:nvSpPr>
          <p:spPr>
            <a:xfrm flipH="false" flipV="false" rot="0">
              <a:off x="0" y="0"/>
              <a:ext cx="3422527" cy="321787"/>
            </a:xfrm>
            <a:custGeom>
              <a:avLst/>
              <a:gdLst/>
              <a:ahLst/>
              <a:cxnLst/>
              <a:rect r="r" b="b" t="t" l="l"/>
              <a:pathLst>
                <a:path h="321787" w="3422527">
                  <a:moveTo>
                    <a:pt x="0" y="0"/>
                  </a:moveTo>
                  <a:lnTo>
                    <a:pt x="3422527" y="0"/>
                  </a:lnTo>
                  <a:lnTo>
                    <a:pt x="3422527" y="321787"/>
                  </a:lnTo>
                  <a:lnTo>
                    <a:pt x="0" y="321787"/>
                  </a:lnTo>
                  <a:close/>
                </a:path>
              </a:pathLst>
            </a:custGeom>
            <a:solidFill>
              <a:srgbClr val="000000">
                <a:alpha val="0"/>
              </a:srgbClr>
            </a:solidFill>
            <a:ln w="38100" cap="sq">
              <a:solidFill>
                <a:srgbClr val="0097B2"/>
              </a:solidFill>
              <a:prstDash val="solid"/>
              <a:miter/>
            </a:ln>
          </p:spPr>
        </p:sp>
        <p:sp>
          <p:nvSpPr>
            <p:cNvPr name="TextBox 8" id="8"/>
            <p:cNvSpPr txBox="true"/>
            <p:nvPr/>
          </p:nvSpPr>
          <p:spPr>
            <a:xfrm>
              <a:off x="0" y="-47625"/>
              <a:ext cx="3422527" cy="369412"/>
            </a:xfrm>
            <a:prstGeom prst="rect">
              <a:avLst/>
            </a:prstGeom>
          </p:spPr>
          <p:txBody>
            <a:bodyPr anchor="ctr" rtlCol="false" tIns="50800" lIns="50800" bIns="50800" rIns="50800"/>
            <a:lstStyle/>
            <a:p>
              <a:pPr algn="ctr">
                <a:lnSpc>
                  <a:spcPts val="3499"/>
                </a:lnSpc>
              </a:pPr>
            </a:p>
          </p:txBody>
        </p:sp>
      </p:grpSp>
      <p:pic>
        <p:nvPicPr>
          <p:cNvPr name="Picture 9" id="9"/>
          <p:cNvPicPr>
            <a:picLocks noChangeAspect="true"/>
          </p:cNvPicPr>
          <p:nvPr/>
        </p:nvPicPr>
        <p:blipFill>
          <a:blip r:embed="rId6"/>
          <a:stretch>
            <a:fillRect/>
          </a:stretch>
        </p:blipFill>
        <p:spPr>
          <a:xfrm rot="0">
            <a:off x="-141307" y="5636023"/>
            <a:ext cx="15403783" cy="3552423"/>
          </a:xfrm>
          <a:prstGeom prst="rect">
            <a:avLst/>
          </a:prstGeom>
        </p:spPr>
      </p:pic>
      <p:sp>
        <p:nvSpPr>
          <p:cNvPr name="TextBox 10" id="10"/>
          <p:cNvSpPr txBox="true"/>
          <p:nvPr/>
        </p:nvSpPr>
        <p:spPr>
          <a:xfrm rot="0">
            <a:off x="1028700" y="2277075"/>
            <a:ext cx="12051177"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Fork Reaction Torque Observer (FRTOB):</a:t>
            </a:r>
          </a:p>
        </p:txBody>
      </p:sp>
      <p:sp>
        <p:nvSpPr>
          <p:cNvPr name="TextBox 11" id="11"/>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IV. Control</a:t>
            </a:r>
          </a:p>
        </p:txBody>
      </p:sp>
      <p:sp>
        <p:nvSpPr>
          <p:cNvPr name="TextBox 12" id="12"/>
          <p:cNvSpPr txBox="true"/>
          <p:nvPr/>
        </p:nvSpPr>
        <p:spPr>
          <a:xfrm rot="0">
            <a:off x="8704387" y="7975785"/>
            <a:ext cx="5964416"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Pseudo differentiation</a:t>
            </a:r>
          </a:p>
        </p:txBody>
      </p:sp>
      <p:grpSp>
        <p:nvGrpSpPr>
          <p:cNvPr name="Group 13" id="13"/>
          <p:cNvGrpSpPr/>
          <p:nvPr/>
        </p:nvGrpSpPr>
        <p:grpSpPr>
          <a:xfrm rot="5400000">
            <a:off x="8776764" y="775764"/>
            <a:ext cx="734472" cy="18288000"/>
            <a:chOff x="0" y="0"/>
            <a:chExt cx="193441" cy="4816593"/>
          </a:xfrm>
        </p:grpSpPr>
        <p:sp>
          <p:nvSpPr>
            <p:cNvPr name="Freeform 14" id="1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15" id="1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16" id="16"/>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14</a:t>
            </a:r>
          </a:p>
        </p:txBody>
      </p:sp>
      <p:sp>
        <p:nvSpPr>
          <p:cNvPr name="TextBox 17" id="17"/>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8" id="18"/>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pic>
        <p:nvPicPr>
          <p:cNvPr name="Picture 19" id="19"/>
          <p:cNvPicPr>
            <a:picLocks noChangeAspect="true"/>
          </p:cNvPicPr>
          <p:nvPr/>
        </p:nvPicPr>
        <p:blipFill>
          <a:blip r:embed="rId7"/>
          <a:stretch>
            <a:fillRect/>
          </a:stretch>
        </p:blipFill>
        <p:spPr>
          <a:xfrm rot="0">
            <a:off x="737467" y="8246527"/>
            <a:ext cx="3494798" cy="1225448"/>
          </a:xfrm>
          <a:prstGeom prst="rect">
            <a:avLst/>
          </a:prstGeom>
        </p:spPr>
      </p:pic>
      <p:grpSp>
        <p:nvGrpSpPr>
          <p:cNvPr name="Group 20" id="20"/>
          <p:cNvGrpSpPr/>
          <p:nvPr/>
        </p:nvGrpSpPr>
        <p:grpSpPr>
          <a:xfrm rot="0">
            <a:off x="983922" y="8248359"/>
            <a:ext cx="3092847" cy="1221784"/>
            <a:chOff x="0" y="0"/>
            <a:chExt cx="814577" cy="321787"/>
          </a:xfrm>
        </p:grpSpPr>
        <p:sp>
          <p:nvSpPr>
            <p:cNvPr name="Freeform 21" id="21"/>
            <p:cNvSpPr/>
            <p:nvPr/>
          </p:nvSpPr>
          <p:spPr>
            <a:xfrm flipH="false" flipV="false" rot="0">
              <a:off x="0" y="0"/>
              <a:ext cx="814577" cy="321787"/>
            </a:xfrm>
            <a:custGeom>
              <a:avLst/>
              <a:gdLst/>
              <a:ahLst/>
              <a:cxnLst/>
              <a:rect r="r" b="b" t="t" l="l"/>
              <a:pathLst>
                <a:path h="321787" w="814577">
                  <a:moveTo>
                    <a:pt x="0" y="0"/>
                  </a:moveTo>
                  <a:lnTo>
                    <a:pt x="814577" y="0"/>
                  </a:lnTo>
                  <a:lnTo>
                    <a:pt x="814577" y="321787"/>
                  </a:lnTo>
                  <a:lnTo>
                    <a:pt x="0" y="321787"/>
                  </a:lnTo>
                  <a:close/>
                </a:path>
              </a:pathLst>
            </a:custGeom>
            <a:solidFill>
              <a:srgbClr val="000000">
                <a:alpha val="0"/>
              </a:srgbClr>
            </a:solidFill>
            <a:ln w="38100" cap="sq">
              <a:solidFill>
                <a:srgbClr val="5E17EB"/>
              </a:solidFill>
              <a:prstDash val="solid"/>
              <a:miter/>
            </a:ln>
          </p:spPr>
        </p:sp>
        <p:sp>
          <p:nvSpPr>
            <p:cNvPr name="TextBox 22" id="22"/>
            <p:cNvSpPr txBox="true"/>
            <p:nvPr/>
          </p:nvSpPr>
          <p:spPr>
            <a:xfrm>
              <a:off x="0" y="-47625"/>
              <a:ext cx="814577" cy="369412"/>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pic>
        <p:nvPicPr>
          <p:cNvPr name="Picture 3" id="3"/>
          <p:cNvPicPr>
            <a:picLocks noChangeAspect="true"/>
          </p:cNvPicPr>
          <p:nvPr/>
        </p:nvPicPr>
        <p:blipFill>
          <a:blip r:embed="rId3"/>
          <a:stretch>
            <a:fillRect/>
          </a:stretch>
        </p:blipFill>
        <p:spPr>
          <a:xfrm rot="0">
            <a:off x="-52336" y="7029036"/>
            <a:ext cx="12972436" cy="2824546"/>
          </a:xfrm>
          <a:prstGeom prst="rect">
            <a:avLst/>
          </a:prstGeom>
        </p:spPr>
      </p:pic>
      <p:pic>
        <p:nvPicPr>
          <p:cNvPr name="Picture 4" id="4"/>
          <p:cNvPicPr>
            <a:picLocks noChangeAspect="true"/>
          </p:cNvPicPr>
          <p:nvPr/>
        </p:nvPicPr>
        <p:blipFill>
          <a:blip r:embed="rId4"/>
          <a:stretch>
            <a:fillRect/>
          </a:stretch>
        </p:blipFill>
        <p:spPr>
          <a:xfrm rot="0">
            <a:off x="-91218" y="1772684"/>
            <a:ext cx="14801550" cy="3129398"/>
          </a:xfrm>
          <a:prstGeom prst="rect">
            <a:avLst/>
          </a:prstGeom>
        </p:spPr>
      </p:pic>
      <p:pic>
        <p:nvPicPr>
          <p:cNvPr name="Picture 5" id="5"/>
          <p:cNvPicPr>
            <a:picLocks noChangeAspect="true"/>
          </p:cNvPicPr>
          <p:nvPr/>
        </p:nvPicPr>
        <p:blipFill>
          <a:blip r:embed="rId5"/>
          <a:stretch>
            <a:fillRect/>
          </a:stretch>
        </p:blipFill>
        <p:spPr>
          <a:xfrm rot="0">
            <a:off x="640657" y="3367058"/>
            <a:ext cx="6019045" cy="1665647"/>
          </a:xfrm>
          <a:prstGeom prst="rect">
            <a:avLst/>
          </a:prstGeom>
        </p:spPr>
      </p:pic>
      <p:pic>
        <p:nvPicPr>
          <p:cNvPr name="Picture 6" id="6"/>
          <p:cNvPicPr>
            <a:picLocks noChangeAspect="true"/>
          </p:cNvPicPr>
          <p:nvPr/>
        </p:nvPicPr>
        <p:blipFill>
          <a:blip r:embed="rId6"/>
          <a:stretch>
            <a:fillRect/>
          </a:stretch>
        </p:blipFill>
        <p:spPr>
          <a:xfrm rot="0">
            <a:off x="-380961" y="3341288"/>
            <a:ext cx="18278459" cy="3744293"/>
          </a:xfrm>
          <a:prstGeom prst="rect">
            <a:avLst/>
          </a:prstGeom>
        </p:spPr>
      </p:pic>
      <p:grpSp>
        <p:nvGrpSpPr>
          <p:cNvPr name="Group 7" id="7"/>
          <p:cNvGrpSpPr/>
          <p:nvPr/>
        </p:nvGrpSpPr>
        <p:grpSpPr>
          <a:xfrm rot="0">
            <a:off x="1028700" y="5762401"/>
            <a:ext cx="10121445" cy="1221784"/>
            <a:chOff x="0" y="0"/>
            <a:chExt cx="2665730" cy="321787"/>
          </a:xfrm>
        </p:grpSpPr>
        <p:sp>
          <p:nvSpPr>
            <p:cNvPr name="Freeform 8" id="8"/>
            <p:cNvSpPr/>
            <p:nvPr/>
          </p:nvSpPr>
          <p:spPr>
            <a:xfrm flipH="false" flipV="false" rot="0">
              <a:off x="0" y="0"/>
              <a:ext cx="2665731" cy="321787"/>
            </a:xfrm>
            <a:custGeom>
              <a:avLst/>
              <a:gdLst/>
              <a:ahLst/>
              <a:cxnLst/>
              <a:rect r="r" b="b" t="t" l="l"/>
              <a:pathLst>
                <a:path h="321787" w="2665731">
                  <a:moveTo>
                    <a:pt x="0" y="0"/>
                  </a:moveTo>
                  <a:lnTo>
                    <a:pt x="2665731" y="0"/>
                  </a:lnTo>
                  <a:lnTo>
                    <a:pt x="2665731" y="321787"/>
                  </a:lnTo>
                  <a:lnTo>
                    <a:pt x="0" y="321787"/>
                  </a:lnTo>
                  <a:close/>
                </a:path>
              </a:pathLst>
            </a:custGeom>
            <a:solidFill>
              <a:srgbClr val="000000">
                <a:alpha val="0"/>
              </a:srgbClr>
            </a:solidFill>
            <a:ln w="38100" cap="sq">
              <a:solidFill>
                <a:srgbClr val="0097B2"/>
              </a:solidFill>
              <a:prstDash val="solid"/>
              <a:miter/>
            </a:ln>
          </p:spPr>
        </p:sp>
        <p:sp>
          <p:nvSpPr>
            <p:cNvPr name="TextBox 9" id="9"/>
            <p:cNvSpPr txBox="true"/>
            <p:nvPr/>
          </p:nvSpPr>
          <p:spPr>
            <a:xfrm>
              <a:off x="0" y="-47625"/>
              <a:ext cx="2665730" cy="369412"/>
            </a:xfrm>
            <a:prstGeom prst="rect">
              <a:avLst/>
            </a:prstGeom>
          </p:spPr>
          <p:txBody>
            <a:bodyPr anchor="ctr" rtlCol="false" tIns="50800" lIns="50800" bIns="50800" rIns="50800"/>
            <a:lstStyle/>
            <a:p>
              <a:pPr algn="ctr">
                <a:lnSpc>
                  <a:spcPts val="3499"/>
                </a:lnSpc>
              </a:pPr>
            </a:p>
          </p:txBody>
        </p:sp>
      </p:grpSp>
      <p:pic>
        <p:nvPicPr>
          <p:cNvPr name="Picture 10" id="10"/>
          <p:cNvPicPr>
            <a:picLocks noChangeAspect="true"/>
          </p:cNvPicPr>
          <p:nvPr/>
        </p:nvPicPr>
        <p:blipFill>
          <a:blip r:embed="rId7"/>
          <a:stretch>
            <a:fillRect/>
          </a:stretch>
        </p:blipFill>
        <p:spPr>
          <a:xfrm rot="0">
            <a:off x="152808" y="4907553"/>
            <a:ext cx="11873228" cy="2930806"/>
          </a:xfrm>
          <a:prstGeom prst="rect">
            <a:avLst/>
          </a:prstGeom>
        </p:spPr>
      </p:pic>
      <p:grpSp>
        <p:nvGrpSpPr>
          <p:cNvPr name="Group 11" id="11"/>
          <p:cNvGrpSpPr/>
          <p:nvPr/>
        </p:nvGrpSpPr>
        <p:grpSpPr>
          <a:xfrm rot="-5400000">
            <a:off x="11404381" y="5909894"/>
            <a:ext cx="612382" cy="935257"/>
            <a:chOff x="0" y="0"/>
            <a:chExt cx="532200" cy="812800"/>
          </a:xfrm>
        </p:grpSpPr>
        <p:sp>
          <p:nvSpPr>
            <p:cNvPr name="Freeform 12" id="12"/>
            <p:cNvSpPr/>
            <p:nvPr/>
          </p:nvSpPr>
          <p:spPr>
            <a:xfrm flipH="false" flipV="false" rot="0">
              <a:off x="0" y="0"/>
              <a:ext cx="532200" cy="812800"/>
            </a:xfrm>
            <a:custGeom>
              <a:avLst/>
              <a:gdLst/>
              <a:ahLst/>
              <a:cxnLst/>
              <a:rect r="r" b="b" t="t" l="l"/>
              <a:pathLst>
                <a:path h="812800" w="532200">
                  <a:moveTo>
                    <a:pt x="266100" y="812800"/>
                  </a:moveTo>
                  <a:lnTo>
                    <a:pt x="0" y="406400"/>
                  </a:lnTo>
                  <a:lnTo>
                    <a:pt x="203200" y="406400"/>
                  </a:lnTo>
                  <a:lnTo>
                    <a:pt x="203200" y="0"/>
                  </a:lnTo>
                  <a:lnTo>
                    <a:pt x="329000" y="0"/>
                  </a:lnTo>
                  <a:lnTo>
                    <a:pt x="329000" y="406400"/>
                  </a:lnTo>
                  <a:lnTo>
                    <a:pt x="532200" y="406400"/>
                  </a:lnTo>
                  <a:lnTo>
                    <a:pt x="266100" y="812800"/>
                  </a:lnTo>
                  <a:close/>
                </a:path>
              </a:pathLst>
            </a:custGeom>
            <a:solidFill>
              <a:srgbClr val="0097B2"/>
            </a:solidFill>
          </p:spPr>
        </p:sp>
        <p:sp>
          <p:nvSpPr>
            <p:cNvPr name="TextBox 13" id="13"/>
            <p:cNvSpPr txBox="true"/>
            <p:nvPr/>
          </p:nvSpPr>
          <p:spPr>
            <a:xfrm>
              <a:off x="203200" y="-47625"/>
              <a:ext cx="125800" cy="758825"/>
            </a:xfrm>
            <a:prstGeom prst="rect">
              <a:avLst/>
            </a:prstGeom>
          </p:spPr>
          <p:txBody>
            <a:bodyPr anchor="ctr" rtlCol="false" tIns="50800" lIns="50800" bIns="50800" rIns="50800"/>
            <a:lstStyle/>
            <a:p>
              <a:pPr algn="ctr">
                <a:lnSpc>
                  <a:spcPts val="3499"/>
                </a:lnSpc>
              </a:pPr>
            </a:p>
          </p:txBody>
        </p:sp>
      </p:grpSp>
      <p:sp>
        <p:nvSpPr>
          <p:cNvPr name="TextBox 14" id="14"/>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IV. Control</a:t>
            </a:r>
          </a:p>
        </p:txBody>
      </p:sp>
      <p:sp>
        <p:nvSpPr>
          <p:cNvPr name="TextBox 15" id="15"/>
          <p:cNvSpPr txBox="true"/>
          <p:nvPr/>
        </p:nvSpPr>
        <p:spPr>
          <a:xfrm rot="0">
            <a:off x="1028700" y="7116297"/>
            <a:ext cx="7662762"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PD controller lift displacement:</a:t>
            </a:r>
          </a:p>
        </p:txBody>
      </p:sp>
      <p:sp>
        <p:nvSpPr>
          <p:cNvPr name="TextBox 16" id="16"/>
          <p:cNvSpPr txBox="true"/>
          <p:nvPr/>
        </p:nvSpPr>
        <p:spPr>
          <a:xfrm rot="0">
            <a:off x="1028700" y="2277075"/>
            <a:ext cx="8525698"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Lift Disturbance Observer (LDOB):</a:t>
            </a:r>
          </a:p>
        </p:txBody>
      </p:sp>
      <p:sp>
        <p:nvSpPr>
          <p:cNvPr name="TextBox 17" id="17"/>
          <p:cNvSpPr txBox="true"/>
          <p:nvPr/>
        </p:nvSpPr>
        <p:spPr>
          <a:xfrm rot="0">
            <a:off x="12387750" y="6004657"/>
            <a:ext cx="5323751"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Pseudo differentiation</a:t>
            </a:r>
          </a:p>
        </p:txBody>
      </p:sp>
      <p:grpSp>
        <p:nvGrpSpPr>
          <p:cNvPr name="Group 18" id="18"/>
          <p:cNvGrpSpPr/>
          <p:nvPr/>
        </p:nvGrpSpPr>
        <p:grpSpPr>
          <a:xfrm rot="0">
            <a:off x="10850731" y="7989379"/>
            <a:ext cx="1151452" cy="903861"/>
            <a:chOff x="0" y="0"/>
            <a:chExt cx="303263" cy="238054"/>
          </a:xfrm>
        </p:grpSpPr>
        <p:sp>
          <p:nvSpPr>
            <p:cNvPr name="Freeform 19" id="19"/>
            <p:cNvSpPr/>
            <p:nvPr/>
          </p:nvSpPr>
          <p:spPr>
            <a:xfrm flipH="false" flipV="false" rot="0">
              <a:off x="0" y="0"/>
              <a:ext cx="303263" cy="238054"/>
            </a:xfrm>
            <a:custGeom>
              <a:avLst/>
              <a:gdLst/>
              <a:ahLst/>
              <a:cxnLst/>
              <a:rect r="r" b="b" t="t" l="l"/>
              <a:pathLst>
                <a:path h="238054" w="303263">
                  <a:moveTo>
                    <a:pt x="0" y="0"/>
                  </a:moveTo>
                  <a:lnTo>
                    <a:pt x="303263" y="0"/>
                  </a:lnTo>
                  <a:lnTo>
                    <a:pt x="303263" y="238054"/>
                  </a:lnTo>
                  <a:lnTo>
                    <a:pt x="0" y="238054"/>
                  </a:lnTo>
                  <a:close/>
                </a:path>
              </a:pathLst>
            </a:custGeom>
            <a:solidFill>
              <a:srgbClr val="000000">
                <a:alpha val="0"/>
              </a:srgbClr>
            </a:solidFill>
            <a:ln w="38100" cap="sq">
              <a:solidFill>
                <a:srgbClr val="0097B2"/>
              </a:solidFill>
              <a:prstDash val="solid"/>
              <a:miter/>
            </a:ln>
          </p:spPr>
        </p:sp>
        <p:sp>
          <p:nvSpPr>
            <p:cNvPr name="TextBox 20" id="20"/>
            <p:cNvSpPr txBox="true"/>
            <p:nvPr/>
          </p:nvSpPr>
          <p:spPr>
            <a:xfrm>
              <a:off x="0" y="-47625"/>
              <a:ext cx="303263" cy="285679"/>
            </a:xfrm>
            <a:prstGeom prst="rect">
              <a:avLst/>
            </a:prstGeom>
          </p:spPr>
          <p:txBody>
            <a:bodyPr anchor="ctr" rtlCol="false" tIns="50800" lIns="50800" bIns="50800" rIns="50800"/>
            <a:lstStyle/>
            <a:p>
              <a:pPr algn="ctr">
                <a:lnSpc>
                  <a:spcPts val="3499"/>
                </a:lnSpc>
              </a:pPr>
            </a:p>
          </p:txBody>
        </p:sp>
      </p:grpSp>
      <p:grpSp>
        <p:nvGrpSpPr>
          <p:cNvPr name="Group 21" id="21"/>
          <p:cNvGrpSpPr/>
          <p:nvPr/>
        </p:nvGrpSpPr>
        <p:grpSpPr>
          <a:xfrm rot="5400000">
            <a:off x="8776764" y="775764"/>
            <a:ext cx="734472" cy="18288000"/>
            <a:chOff x="0" y="0"/>
            <a:chExt cx="193441" cy="4816593"/>
          </a:xfrm>
        </p:grpSpPr>
        <p:sp>
          <p:nvSpPr>
            <p:cNvPr name="Freeform 22" id="22"/>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23" id="23"/>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24" id="24"/>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15</a:t>
            </a:r>
          </a:p>
        </p:txBody>
      </p:sp>
      <p:sp>
        <p:nvSpPr>
          <p:cNvPr name="TextBox 25" id="25"/>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26" id="26"/>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pic>
        <p:nvPicPr>
          <p:cNvPr name="Picture 3" id="3"/>
          <p:cNvPicPr>
            <a:picLocks noChangeAspect="true"/>
          </p:cNvPicPr>
          <p:nvPr/>
        </p:nvPicPr>
        <p:blipFill>
          <a:blip r:embed="rId3"/>
          <a:stretch>
            <a:fillRect/>
          </a:stretch>
        </p:blipFill>
        <p:spPr>
          <a:xfrm rot="0">
            <a:off x="649542" y="2710071"/>
            <a:ext cx="4731953" cy="1451132"/>
          </a:xfrm>
          <a:prstGeom prst="rect">
            <a:avLst/>
          </a:prstGeom>
        </p:spPr>
      </p:pic>
      <p:pic>
        <p:nvPicPr>
          <p:cNvPr name="Picture 4" id="4"/>
          <p:cNvPicPr>
            <a:picLocks noChangeAspect="true"/>
          </p:cNvPicPr>
          <p:nvPr/>
        </p:nvPicPr>
        <p:blipFill>
          <a:blip r:embed="rId4"/>
          <a:stretch>
            <a:fillRect/>
          </a:stretch>
        </p:blipFill>
        <p:spPr>
          <a:xfrm rot="0">
            <a:off x="249505" y="4580911"/>
            <a:ext cx="9350340" cy="2220863"/>
          </a:xfrm>
          <a:prstGeom prst="rect">
            <a:avLst/>
          </a:prstGeom>
        </p:spPr>
      </p:pic>
      <p:pic>
        <p:nvPicPr>
          <p:cNvPr name="Picture 5" id="5"/>
          <p:cNvPicPr>
            <a:picLocks noChangeAspect="true"/>
          </p:cNvPicPr>
          <p:nvPr/>
        </p:nvPicPr>
        <p:blipFill>
          <a:blip r:embed="rId5"/>
          <a:stretch>
            <a:fillRect/>
          </a:stretch>
        </p:blipFill>
        <p:spPr>
          <a:xfrm rot="0">
            <a:off x="-400442" y="2785406"/>
            <a:ext cx="17149709" cy="3556168"/>
          </a:xfrm>
          <a:prstGeom prst="rect">
            <a:avLst/>
          </a:prstGeom>
        </p:spPr>
      </p:pic>
      <p:grpSp>
        <p:nvGrpSpPr>
          <p:cNvPr name="Group 6" id="6"/>
          <p:cNvGrpSpPr/>
          <p:nvPr/>
        </p:nvGrpSpPr>
        <p:grpSpPr>
          <a:xfrm rot="0">
            <a:off x="1043871" y="6565505"/>
            <a:ext cx="12994906" cy="1221784"/>
            <a:chOff x="0" y="0"/>
            <a:chExt cx="3422527" cy="321787"/>
          </a:xfrm>
        </p:grpSpPr>
        <p:sp>
          <p:nvSpPr>
            <p:cNvPr name="Freeform 7" id="7"/>
            <p:cNvSpPr/>
            <p:nvPr/>
          </p:nvSpPr>
          <p:spPr>
            <a:xfrm flipH="false" flipV="false" rot="0">
              <a:off x="0" y="0"/>
              <a:ext cx="3422527" cy="321787"/>
            </a:xfrm>
            <a:custGeom>
              <a:avLst/>
              <a:gdLst/>
              <a:ahLst/>
              <a:cxnLst/>
              <a:rect r="r" b="b" t="t" l="l"/>
              <a:pathLst>
                <a:path h="321787" w="3422527">
                  <a:moveTo>
                    <a:pt x="0" y="0"/>
                  </a:moveTo>
                  <a:lnTo>
                    <a:pt x="3422527" y="0"/>
                  </a:lnTo>
                  <a:lnTo>
                    <a:pt x="3422527" y="321787"/>
                  </a:lnTo>
                  <a:lnTo>
                    <a:pt x="0" y="321787"/>
                  </a:lnTo>
                  <a:close/>
                </a:path>
              </a:pathLst>
            </a:custGeom>
            <a:solidFill>
              <a:srgbClr val="000000">
                <a:alpha val="0"/>
              </a:srgbClr>
            </a:solidFill>
            <a:ln w="38100" cap="sq">
              <a:solidFill>
                <a:srgbClr val="0097B2"/>
              </a:solidFill>
              <a:prstDash val="solid"/>
              <a:miter/>
            </a:ln>
          </p:spPr>
        </p:sp>
        <p:sp>
          <p:nvSpPr>
            <p:cNvPr name="TextBox 8" id="8"/>
            <p:cNvSpPr txBox="true"/>
            <p:nvPr/>
          </p:nvSpPr>
          <p:spPr>
            <a:xfrm>
              <a:off x="0" y="-47625"/>
              <a:ext cx="3422527" cy="369412"/>
            </a:xfrm>
            <a:prstGeom prst="rect">
              <a:avLst/>
            </a:prstGeom>
          </p:spPr>
          <p:txBody>
            <a:bodyPr anchor="ctr" rtlCol="false" tIns="50800" lIns="50800" bIns="50800" rIns="50800"/>
            <a:lstStyle/>
            <a:p>
              <a:pPr algn="ctr">
                <a:lnSpc>
                  <a:spcPts val="3499"/>
                </a:lnSpc>
              </a:pPr>
            </a:p>
          </p:txBody>
        </p:sp>
      </p:grpSp>
      <p:pic>
        <p:nvPicPr>
          <p:cNvPr name="Picture 9" id="9"/>
          <p:cNvPicPr>
            <a:picLocks noChangeAspect="true"/>
          </p:cNvPicPr>
          <p:nvPr/>
        </p:nvPicPr>
        <p:blipFill>
          <a:blip r:embed="rId6"/>
          <a:stretch>
            <a:fillRect/>
          </a:stretch>
        </p:blipFill>
        <p:spPr>
          <a:xfrm rot="0">
            <a:off x="70890" y="5413690"/>
            <a:ext cx="15009733" cy="3486748"/>
          </a:xfrm>
          <a:prstGeom prst="rect">
            <a:avLst/>
          </a:prstGeom>
        </p:spPr>
      </p:pic>
      <p:sp>
        <p:nvSpPr>
          <p:cNvPr name="TextBox 10" id="10"/>
          <p:cNvSpPr txBox="true"/>
          <p:nvPr/>
        </p:nvSpPr>
        <p:spPr>
          <a:xfrm rot="0">
            <a:off x="1028700" y="2277075"/>
            <a:ext cx="12115476"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Lift Reaction Force Observer (LRFOB):</a:t>
            </a:r>
          </a:p>
        </p:txBody>
      </p:sp>
      <p:sp>
        <p:nvSpPr>
          <p:cNvPr name="TextBox 11" id="11"/>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IV. Control</a:t>
            </a:r>
          </a:p>
        </p:txBody>
      </p:sp>
      <p:sp>
        <p:nvSpPr>
          <p:cNvPr name="TextBox 12" id="12"/>
          <p:cNvSpPr txBox="true"/>
          <p:nvPr/>
        </p:nvSpPr>
        <p:spPr>
          <a:xfrm rot="0">
            <a:off x="8820650" y="7720614"/>
            <a:ext cx="5964416"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Pseudo differentiation</a:t>
            </a:r>
          </a:p>
        </p:txBody>
      </p:sp>
      <p:grpSp>
        <p:nvGrpSpPr>
          <p:cNvPr name="Group 13" id="13"/>
          <p:cNvGrpSpPr/>
          <p:nvPr/>
        </p:nvGrpSpPr>
        <p:grpSpPr>
          <a:xfrm rot="5400000">
            <a:off x="8776764" y="775764"/>
            <a:ext cx="734472" cy="18288000"/>
            <a:chOff x="0" y="0"/>
            <a:chExt cx="193441" cy="4816593"/>
          </a:xfrm>
        </p:grpSpPr>
        <p:sp>
          <p:nvSpPr>
            <p:cNvPr name="Freeform 14" id="1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15" id="1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16" id="16"/>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16</a:t>
            </a:r>
          </a:p>
        </p:txBody>
      </p:sp>
      <p:sp>
        <p:nvSpPr>
          <p:cNvPr name="TextBox 17" id="17"/>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8" id="18"/>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grpSp>
        <p:nvGrpSpPr>
          <p:cNvPr name="Group 19" id="19"/>
          <p:cNvGrpSpPr/>
          <p:nvPr/>
        </p:nvGrpSpPr>
        <p:grpSpPr>
          <a:xfrm rot="0">
            <a:off x="1028700" y="8234964"/>
            <a:ext cx="3092847" cy="1221784"/>
            <a:chOff x="0" y="0"/>
            <a:chExt cx="814577" cy="321787"/>
          </a:xfrm>
        </p:grpSpPr>
        <p:sp>
          <p:nvSpPr>
            <p:cNvPr name="Freeform 20" id="20"/>
            <p:cNvSpPr/>
            <p:nvPr/>
          </p:nvSpPr>
          <p:spPr>
            <a:xfrm flipH="false" flipV="false" rot="0">
              <a:off x="0" y="0"/>
              <a:ext cx="814577" cy="321787"/>
            </a:xfrm>
            <a:custGeom>
              <a:avLst/>
              <a:gdLst/>
              <a:ahLst/>
              <a:cxnLst/>
              <a:rect r="r" b="b" t="t" l="l"/>
              <a:pathLst>
                <a:path h="321787" w="814577">
                  <a:moveTo>
                    <a:pt x="0" y="0"/>
                  </a:moveTo>
                  <a:lnTo>
                    <a:pt x="814577" y="0"/>
                  </a:lnTo>
                  <a:lnTo>
                    <a:pt x="814577" y="321787"/>
                  </a:lnTo>
                  <a:lnTo>
                    <a:pt x="0" y="321787"/>
                  </a:lnTo>
                  <a:close/>
                </a:path>
              </a:pathLst>
            </a:custGeom>
            <a:solidFill>
              <a:srgbClr val="000000">
                <a:alpha val="0"/>
              </a:srgbClr>
            </a:solidFill>
            <a:ln w="38100" cap="sq">
              <a:solidFill>
                <a:srgbClr val="5E17EB"/>
              </a:solidFill>
              <a:prstDash val="solid"/>
              <a:miter/>
            </a:ln>
          </p:spPr>
        </p:sp>
        <p:sp>
          <p:nvSpPr>
            <p:cNvPr name="TextBox 21" id="21"/>
            <p:cNvSpPr txBox="true"/>
            <p:nvPr/>
          </p:nvSpPr>
          <p:spPr>
            <a:xfrm>
              <a:off x="0" y="-47625"/>
              <a:ext cx="814577" cy="369412"/>
            </a:xfrm>
            <a:prstGeom prst="rect">
              <a:avLst/>
            </a:prstGeom>
          </p:spPr>
          <p:txBody>
            <a:bodyPr anchor="ctr" rtlCol="false" tIns="50800" lIns="50800" bIns="50800" rIns="50800"/>
            <a:lstStyle/>
            <a:p>
              <a:pPr algn="ctr">
                <a:lnSpc>
                  <a:spcPts val="3499"/>
                </a:lnSpc>
              </a:pPr>
            </a:p>
          </p:txBody>
        </p:sp>
      </p:grpSp>
      <p:pic>
        <p:nvPicPr>
          <p:cNvPr name="Picture 22" id="22"/>
          <p:cNvPicPr>
            <a:picLocks noChangeAspect="true"/>
          </p:cNvPicPr>
          <p:nvPr/>
        </p:nvPicPr>
        <p:blipFill>
          <a:blip r:embed="rId7"/>
          <a:stretch>
            <a:fillRect/>
          </a:stretch>
        </p:blipFill>
        <p:spPr>
          <a:xfrm rot="0">
            <a:off x="773213" y="7964306"/>
            <a:ext cx="3247900" cy="1679599"/>
          </a:xfrm>
          <a:prstGeom prst="rect">
            <a:avLst/>
          </a:prstGeom>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sp>
        <p:nvSpPr>
          <p:cNvPr name="TextBox 3" id="3"/>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IV. Control</a:t>
            </a:r>
          </a:p>
        </p:txBody>
      </p:sp>
      <p:pic>
        <p:nvPicPr>
          <p:cNvPr name="Picture 4" id="4"/>
          <p:cNvPicPr>
            <a:picLocks noChangeAspect="true"/>
          </p:cNvPicPr>
          <p:nvPr/>
        </p:nvPicPr>
        <p:blipFill>
          <a:blip r:embed="rId3"/>
          <a:stretch>
            <a:fillRect/>
          </a:stretch>
        </p:blipFill>
        <p:spPr>
          <a:xfrm rot="0">
            <a:off x="-567028" y="1685125"/>
            <a:ext cx="19148738" cy="4300270"/>
          </a:xfrm>
          <a:prstGeom prst="rect">
            <a:avLst/>
          </a:prstGeom>
        </p:spPr>
      </p:pic>
      <p:pic>
        <p:nvPicPr>
          <p:cNvPr name="Picture 5" id="5"/>
          <p:cNvPicPr>
            <a:picLocks noChangeAspect="true"/>
          </p:cNvPicPr>
          <p:nvPr/>
        </p:nvPicPr>
        <p:blipFill>
          <a:blip r:embed="rId4"/>
          <a:stretch>
            <a:fillRect/>
          </a:stretch>
        </p:blipFill>
        <p:spPr>
          <a:xfrm rot="0">
            <a:off x="-407019" y="4385873"/>
            <a:ext cx="17228633" cy="4747446"/>
          </a:xfrm>
          <a:prstGeom prst="rect">
            <a:avLst/>
          </a:prstGeom>
        </p:spPr>
      </p:pic>
      <p:sp>
        <p:nvSpPr>
          <p:cNvPr name="TextBox 6" id="6"/>
          <p:cNvSpPr txBox="true"/>
          <p:nvPr/>
        </p:nvSpPr>
        <p:spPr>
          <a:xfrm rot="0">
            <a:off x="1028700" y="2417616"/>
            <a:ext cx="9524706"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Wheel Position Control:</a:t>
            </a:r>
          </a:p>
        </p:txBody>
      </p:sp>
      <p:sp>
        <p:nvSpPr>
          <p:cNvPr name="TextBox 7" id="7"/>
          <p:cNvSpPr txBox="true"/>
          <p:nvPr/>
        </p:nvSpPr>
        <p:spPr>
          <a:xfrm rot="0">
            <a:off x="1028700" y="4961167"/>
            <a:ext cx="9093419"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Total pitch command:</a:t>
            </a:r>
          </a:p>
        </p:txBody>
      </p:sp>
      <p:grpSp>
        <p:nvGrpSpPr>
          <p:cNvPr name="Group 8" id="8"/>
          <p:cNvGrpSpPr/>
          <p:nvPr/>
        </p:nvGrpSpPr>
        <p:grpSpPr>
          <a:xfrm rot="5400000">
            <a:off x="8776764" y="775764"/>
            <a:ext cx="734472" cy="18288000"/>
            <a:chOff x="0" y="0"/>
            <a:chExt cx="193441" cy="4816593"/>
          </a:xfrm>
        </p:grpSpPr>
        <p:sp>
          <p:nvSpPr>
            <p:cNvPr name="Freeform 9" id="9"/>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10" id="10"/>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11" id="11"/>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17</a:t>
            </a:r>
          </a:p>
        </p:txBody>
      </p:sp>
      <p:sp>
        <p:nvSpPr>
          <p:cNvPr name="TextBox 12" id="12"/>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3" id="13"/>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grpSp>
        <p:nvGrpSpPr>
          <p:cNvPr name="Group 3" id="3"/>
          <p:cNvGrpSpPr/>
          <p:nvPr/>
        </p:nvGrpSpPr>
        <p:grpSpPr>
          <a:xfrm rot="5400000">
            <a:off x="8776764" y="775764"/>
            <a:ext cx="734472" cy="18288000"/>
            <a:chOff x="0" y="0"/>
            <a:chExt cx="193441" cy="4816593"/>
          </a:xfrm>
        </p:grpSpPr>
        <p:sp>
          <p:nvSpPr>
            <p:cNvPr name="Freeform 4" id="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5" id="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1944439" y="2462412"/>
            <a:ext cx="7503920" cy="5362176"/>
          </a:xfrm>
          <a:custGeom>
            <a:avLst/>
            <a:gdLst/>
            <a:ahLst/>
            <a:cxnLst/>
            <a:rect r="r" b="b" t="t" l="l"/>
            <a:pathLst>
              <a:path h="5362176" w="7503920">
                <a:moveTo>
                  <a:pt x="0" y="0"/>
                </a:moveTo>
                <a:lnTo>
                  <a:pt x="7503920" y="0"/>
                </a:lnTo>
                <a:lnTo>
                  <a:pt x="7503920" y="5362176"/>
                </a:lnTo>
                <a:lnTo>
                  <a:pt x="0" y="5362176"/>
                </a:lnTo>
                <a:lnTo>
                  <a:pt x="0" y="0"/>
                </a:lnTo>
                <a:close/>
              </a:path>
            </a:pathLst>
          </a:custGeom>
          <a:blipFill>
            <a:blip r:embed="rId3"/>
            <a:stretch>
              <a:fillRect l="0" t="0" r="0" b="0"/>
            </a:stretch>
          </a:blipFill>
        </p:spPr>
      </p:sp>
      <p:sp>
        <p:nvSpPr>
          <p:cNvPr name="Freeform 7" id="7"/>
          <p:cNvSpPr/>
          <p:nvPr/>
        </p:nvSpPr>
        <p:spPr>
          <a:xfrm flipH="false" flipV="false" rot="0">
            <a:off x="10851328" y="2519433"/>
            <a:ext cx="5492233" cy="5248134"/>
          </a:xfrm>
          <a:custGeom>
            <a:avLst/>
            <a:gdLst/>
            <a:ahLst/>
            <a:cxnLst/>
            <a:rect r="r" b="b" t="t" l="l"/>
            <a:pathLst>
              <a:path h="5248134" w="5492233">
                <a:moveTo>
                  <a:pt x="0" y="0"/>
                </a:moveTo>
                <a:lnTo>
                  <a:pt x="5492233" y="0"/>
                </a:lnTo>
                <a:lnTo>
                  <a:pt x="5492233" y="5248134"/>
                </a:lnTo>
                <a:lnTo>
                  <a:pt x="0" y="5248134"/>
                </a:lnTo>
                <a:lnTo>
                  <a:pt x="0" y="0"/>
                </a:lnTo>
                <a:close/>
              </a:path>
            </a:pathLst>
          </a:custGeom>
          <a:blipFill>
            <a:blip r:embed="rId4"/>
            <a:stretch>
              <a:fillRect l="0" t="0" r="0" b="0"/>
            </a:stretch>
          </a:blipFill>
        </p:spPr>
      </p:sp>
      <p:sp>
        <p:nvSpPr>
          <p:cNvPr name="TextBox 8" id="8"/>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V. Results</a:t>
            </a:r>
          </a:p>
        </p:txBody>
      </p:sp>
      <p:sp>
        <p:nvSpPr>
          <p:cNvPr name="TextBox 9" id="9"/>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18</a:t>
            </a:r>
          </a:p>
        </p:txBody>
      </p:sp>
      <p:sp>
        <p:nvSpPr>
          <p:cNvPr name="TextBox 10" id="10"/>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1" id="11"/>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grpSp>
        <p:nvGrpSpPr>
          <p:cNvPr name="Group 3" id="3"/>
          <p:cNvGrpSpPr/>
          <p:nvPr/>
        </p:nvGrpSpPr>
        <p:grpSpPr>
          <a:xfrm rot="5400000">
            <a:off x="8776764" y="775764"/>
            <a:ext cx="734472" cy="18288000"/>
            <a:chOff x="0" y="0"/>
            <a:chExt cx="193441" cy="4816593"/>
          </a:xfrm>
        </p:grpSpPr>
        <p:sp>
          <p:nvSpPr>
            <p:cNvPr name="Freeform 4" id="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5" id="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pic>
        <p:nvPicPr>
          <p:cNvPr name="Picture 6" id="6">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3780787" y="2263780"/>
            <a:ext cx="10726427" cy="6919755"/>
          </a:xfrm>
          <a:prstGeom prst="rect">
            <a:avLst/>
          </a:prstGeom>
        </p:spPr>
      </p:pic>
      <p:sp>
        <p:nvSpPr>
          <p:cNvPr name="TextBox 7" id="7"/>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V. Simulation</a:t>
            </a:r>
          </a:p>
        </p:txBody>
      </p:sp>
      <p:sp>
        <p:nvSpPr>
          <p:cNvPr name="TextBox 8" id="8"/>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19</a:t>
            </a:r>
          </a:p>
        </p:txBody>
      </p:sp>
      <p:sp>
        <p:nvSpPr>
          <p:cNvPr name="TextBox 9" id="9"/>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0" id="10"/>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timing>
    <p:tnLst>
      <p:par>
        <p:cTn dur="indefinite" restart="never" nodeType="tmRoot">
          <p:childTnLst>
            <p:video>
              <p:cMediaNode vol="100000">
                <p:cTn fill="hold" display="false">
                  <p:stCondLst>
                    <p:cond delay="indefinite"/>
                  </p:stCondLst>
                </p:cTn>
                <p:tgtEl>
                  <p:spTgt spid="6"/>
                </p:tgtEl>
              </p:cMediaNode>
            </p:video>
          </p:childTnLst>
        </p:cTn>
      </p:par>
    </p:tnLst>
  </p:timing>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grpSp>
        <p:nvGrpSpPr>
          <p:cNvPr name="Group 3" id="3"/>
          <p:cNvGrpSpPr/>
          <p:nvPr/>
        </p:nvGrpSpPr>
        <p:grpSpPr>
          <a:xfrm rot="5400000">
            <a:off x="8776764" y="775764"/>
            <a:ext cx="734472" cy="18288000"/>
            <a:chOff x="0" y="0"/>
            <a:chExt cx="193441" cy="4816593"/>
          </a:xfrm>
        </p:grpSpPr>
        <p:sp>
          <p:nvSpPr>
            <p:cNvPr name="Freeform 4" id="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5" id="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2415389" y="2767994"/>
            <a:ext cx="13457222" cy="6490306"/>
          </a:xfrm>
          <a:custGeom>
            <a:avLst/>
            <a:gdLst/>
            <a:ahLst/>
            <a:cxnLst/>
            <a:rect r="r" b="b" t="t" l="l"/>
            <a:pathLst>
              <a:path h="6490306" w="13457222">
                <a:moveTo>
                  <a:pt x="0" y="0"/>
                </a:moveTo>
                <a:lnTo>
                  <a:pt x="13457222" y="0"/>
                </a:lnTo>
                <a:lnTo>
                  <a:pt x="13457222" y="6490306"/>
                </a:lnTo>
                <a:lnTo>
                  <a:pt x="0" y="6490306"/>
                </a:lnTo>
                <a:lnTo>
                  <a:pt x="0" y="0"/>
                </a:lnTo>
                <a:close/>
              </a:path>
            </a:pathLst>
          </a:custGeom>
          <a:blipFill>
            <a:blip r:embed="rId3"/>
            <a:stretch>
              <a:fillRect l="0" t="0" r="0" b="0"/>
            </a:stretch>
          </a:blipFill>
        </p:spPr>
      </p:sp>
      <p:sp>
        <p:nvSpPr>
          <p:cNvPr name="TextBox 7" id="7"/>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V. Simulation</a:t>
            </a:r>
          </a:p>
        </p:txBody>
      </p:sp>
      <p:sp>
        <p:nvSpPr>
          <p:cNvPr name="TextBox 8" id="8"/>
          <p:cNvSpPr txBox="true"/>
          <p:nvPr/>
        </p:nvSpPr>
        <p:spPr>
          <a:xfrm rot="0">
            <a:off x="4616046" y="2098069"/>
            <a:ext cx="9055909"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Horizontal displacement of the robot</a:t>
            </a:r>
          </a:p>
        </p:txBody>
      </p:sp>
      <p:sp>
        <p:nvSpPr>
          <p:cNvPr name="TextBox 9" id="9"/>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20</a:t>
            </a:r>
          </a:p>
        </p:txBody>
      </p:sp>
      <p:sp>
        <p:nvSpPr>
          <p:cNvPr name="TextBox 10" id="10"/>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1" id="11"/>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grpSp>
        <p:nvGrpSpPr>
          <p:cNvPr name="Group 3" id="3"/>
          <p:cNvGrpSpPr/>
          <p:nvPr/>
        </p:nvGrpSpPr>
        <p:grpSpPr>
          <a:xfrm rot="5400000">
            <a:off x="8776764" y="775764"/>
            <a:ext cx="734472" cy="18288000"/>
            <a:chOff x="0" y="0"/>
            <a:chExt cx="193441" cy="4816593"/>
          </a:xfrm>
        </p:grpSpPr>
        <p:sp>
          <p:nvSpPr>
            <p:cNvPr name="Freeform 4" id="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5" id="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2415389" y="2767994"/>
            <a:ext cx="13457222" cy="6490306"/>
          </a:xfrm>
          <a:custGeom>
            <a:avLst/>
            <a:gdLst/>
            <a:ahLst/>
            <a:cxnLst/>
            <a:rect r="r" b="b" t="t" l="l"/>
            <a:pathLst>
              <a:path h="6490306" w="13457222">
                <a:moveTo>
                  <a:pt x="0" y="0"/>
                </a:moveTo>
                <a:lnTo>
                  <a:pt x="13457222" y="0"/>
                </a:lnTo>
                <a:lnTo>
                  <a:pt x="13457222" y="6490306"/>
                </a:lnTo>
                <a:lnTo>
                  <a:pt x="0" y="6490306"/>
                </a:lnTo>
                <a:lnTo>
                  <a:pt x="0" y="0"/>
                </a:lnTo>
                <a:close/>
              </a:path>
            </a:pathLst>
          </a:custGeom>
          <a:blipFill>
            <a:blip r:embed="rId3"/>
            <a:stretch>
              <a:fillRect l="0" t="0" r="0" b="0"/>
            </a:stretch>
          </a:blipFill>
        </p:spPr>
      </p:sp>
      <p:sp>
        <p:nvSpPr>
          <p:cNvPr name="TextBox 7" id="7"/>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V. Simulation</a:t>
            </a:r>
          </a:p>
        </p:txBody>
      </p:sp>
      <p:sp>
        <p:nvSpPr>
          <p:cNvPr name="TextBox 8" id="8"/>
          <p:cNvSpPr txBox="true"/>
          <p:nvPr/>
        </p:nvSpPr>
        <p:spPr>
          <a:xfrm rot="0">
            <a:off x="5923460" y="2098069"/>
            <a:ext cx="6441079"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Position error of the robot</a:t>
            </a:r>
          </a:p>
        </p:txBody>
      </p:sp>
      <p:sp>
        <p:nvSpPr>
          <p:cNvPr name="TextBox 9" id="9"/>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21</a:t>
            </a:r>
          </a:p>
        </p:txBody>
      </p:sp>
      <p:sp>
        <p:nvSpPr>
          <p:cNvPr name="TextBox 10" id="10"/>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1" id="11"/>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grpSp>
        <p:nvGrpSpPr>
          <p:cNvPr name="Group 3" id="3"/>
          <p:cNvGrpSpPr/>
          <p:nvPr/>
        </p:nvGrpSpPr>
        <p:grpSpPr>
          <a:xfrm rot="5400000">
            <a:off x="8776764" y="775764"/>
            <a:ext cx="734472" cy="18288000"/>
            <a:chOff x="0" y="0"/>
            <a:chExt cx="193441" cy="4816593"/>
          </a:xfrm>
        </p:grpSpPr>
        <p:sp>
          <p:nvSpPr>
            <p:cNvPr name="Freeform 4" id="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5" id="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2415389" y="2767994"/>
            <a:ext cx="13457222" cy="6490306"/>
          </a:xfrm>
          <a:custGeom>
            <a:avLst/>
            <a:gdLst/>
            <a:ahLst/>
            <a:cxnLst/>
            <a:rect r="r" b="b" t="t" l="l"/>
            <a:pathLst>
              <a:path h="6490306" w="13457222">
                <a:moveTo>
                  <a:pt x="0" y="0"/>
                </a:moveTo>
                <a:lnTo>
                  <a:pt x="13457222" y="0"/>
                </a:lnTo>
                <a:lnTo>
                  <a:pt x="13457222" y="6490306"/>
                </a:lnTo>
                <a:lnTo>
                  <a:pt x="0" y="6490306"/>
                </a:lnTo>
                <a:lnTo>
                  <a:pt x="0" y="0"/>
                </a:lnTo>
                <a:close/>
              </a:path>
            </a:pathLst>
          </a:custGeom>
          <a:blipFill>
            <a:blip r:embed="rId3"/>
            <a:stretch>
              <a:fillRect l="0" t="0" r="0" b="0"/>
            </a:stretch>
          </a:blipFill>
        </p:spPr>
      </p:sp>
      <p:sp>
        <p:nvSpPr>
          <p:cNvPr name="TextBox 7" id="7"/>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V. Simulation</a:t>
            </a:r>
          </a:p>
        </p:txBody>
      </p:sp>
      <p:sp>
        <p:nvSpPr>
          <p:cNvPr name="TextBox 8" id="8"/>
          <p:cNvSpPr txBox="true"/>
          <p:nvPr/>
        </p:nvSpPr>
        <p:spPr>
          <a:xfrm rot="0">
            <a:off x="5268016" y="2098069"/>
            <a:ext cx="7751967"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Horizontal velocity of the robot</a:t>
            </a:r>
          </a:p>
        </p:txBody>
      </p:sp>
      <p:sp>
        <p:nvSpPr>
          <p:cNvPr name="TextBox 9" id="9"/>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22</a:t>
            </a:r>
          </a:p>
        </p:txBody>
      </p:sp>
      <p:sp>
        <p:nvSpPr>
          <p:cNvPr name="TextBox 10" id="10"/>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1" id="11"/>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grpSp>
        <p:nvGrpSpPr>
          <p:cNvPr name="Group 3" id="3"/>
          <p:cNvGrpSpPr/>
          <p:nvPr/>
        </p:nvGrpSpPr>
        <p:grpSpPr>
          <a:xfrm rot="5400000">
            <a:off x="8776764" y="775764"/>
            <a:ext cx="734472" cy="18288000"/>
            <a:chOff x="0" y="0"/>
            <a:chExt cx="193441" cy="4816593"/>
          </a:xfrm>
        </p:grpSpPr>
        <p:sp>
          <p:nvSpPr>
            <p:cNvPr name="Freeform 4" id="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5" id="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2415389" y="2767994"/>
            <a:ext cx="13457222" cy="6490306"/>
          </a:xfrm>
          <a:custGeom>
            <a:avLst/>
            <a:gdLst/>
            <a:ahLst/>
            <a:cxnLst/>
            <a:rect r="r" b="b" t="t" l="l"/>
            <a:pathLst>
              <a:path h="6490306" w="13457222">
                <a:moveTo>
                  <a:pt x="0" y="0"/>
                </a:moveTo>
                <a:lnTo>
                  <a:pt x="13457222" y="0"/>
                </a:lnTo>
                <a:lnTo>
                  <a:pt x="13457222" y="6490306"/>
                </a:lnTo>
                <a:lnTo>
                  <a:pt x="0" y="6490306"/>
                </a:lnTo>
                <a:lnTo>
                  <a:pt x="0" y="0"/>
                </a:lnTo>
                <a:close/>
              </a:path>
            </a:pathLst>
          </a:custGeom>
          <a:blipFill>
            <a:blip r:embed="rId3"/>
            <a:stretch>
              <a:fillRect l="0" t="0" r="0" b="0"/>
            </a:stretch>
          </a:blipFill>
        </p:spPr>
      </p:sp>
      <p:sp>
        <p:nvSpPr>
          <p:cNvPr name="TextBox 7" id="7"/>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V. Simulation</a:t>
            </a:r>
          </a:p>
        </p:txBody>
      </p:sp>
      <p:sp>
        <p:nvSpPr>
          <p:cNvPr name="TextBox 8" id="8"/>
          <p:cNvSpPr txBox="true"/>
          <p:nvPr/>
        </p:nvSpPr>
        <p:spPr>
          <a:xfrm rot="0">
            <a:off x="5728827" y="2098069"/>
            <a:ext cx="6830347"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Vertical position of the fork</a:t>
            </a:r>
          </a:p>
        </p:txBody>
      </p:sp>
      <p:sp>
        <p:nvSpPr>
          <p:cNvPr name="TextBox 9" id="9"/>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23</a:t>
            </a:r>
          </a:p>
        </p:txBody>
      </p:sp>
      <p:sp>
        <p:nvSpPr>
          <p:cNvPr name="TextBox 10" id="10"/>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1" id="11"/>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grpSp>
        <p:nvGrpSpPr>
          <p:cNvPr name="Group 3" id="3"/>
          <p:cNvGrpSpPr/>
          <p:nvPr/>
        </p:nvGrpSpPr>
        <p:grpSpPr>
          <a:xfrm rot="5400000">
            <a:off x="8776764" y="775764"/>
            <a:ext cx="734472" cy="18288000"/>
            <a:chOff x="0" y="0"/>
            <a:chExt cx="193441" cy="4816593"/>
          </a:xfrm>
        </p:grpSpPr>
        <p:sp>
          <p:nvSpPr>
            <p:cNvPr name="Freeform 4" id="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5" id="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2415389" y="2767994"/>
            <a:ext cx="13457222" cy="6490306"/>
          </a:xfrm>
          <a:custGeom>
            <a:avLst/>
            <a:gdLst/>
            <a:ahLst/>
            <a:cxnLst/>
            <a:rect r="r" b="b" t="t" l="l"/>
            <a:pathLst>
              <a:path h="6490306" w="13457222">
                <a:moveTo>
                  <a:pt x="0" y="0"/>
                </a:moveTo>
                <a:lnTo>
                  <a:pt x="13457222" y="0"/>
                </a:lnTo>
                <a:lnTo>
                  <a:pt x="13457222" y="6490306"/>
                </a:lnTo>
                <a:lnTo>
                  <a:pt x="0" y="6490306"/>
                </a:lnTo>
                <a:lnTo>
                  <a:pt x="0" y="0"/>
                </a:lnTo>
                <a:close/>
              </a:path>
            </a:pathLst>
          </a:custGeom>
          <a:blipFill>
            <a:blip r:embed="rId3"/>
            <a:stretch>
              <a:fillRect l="0" t="0" r="0" b="0"/>
            </a:stretch>
          </a:blipFill>
        </p:spPr>
      </p:sp>
      <p:sp>
        <p:nvSpPr>
          <p:cNvPr name="TextBox 7" id="7"/>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V. Simulation</a:t>
            </a:r>
          </a:p>
        </p:txBody>
      </p:sp>
      <p:sp>
        <p:nvSpPr>
          <p:cNvPr name="TextBox 8" id="8"/>
          <p:cNvSpPr txBox="true"/>
          <p:nvPr/>
        </p:nvSpPr>
        <p:spPr>
          <a:xfrm rot="0">
            <a:off x="4282097" y="2098069"/>
            <a:ext cx="9723806"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Estimated external torque over the fork</a:t>
            </a:r>
          </a:p>
        </p:txBody>
      </p:sp>
      <p:sp>
        <p:nvSpPr>
          <p:cNvPr name="TextBox 9" id="9"/>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24</a:t>
            </a:r>
          </a:p>
        </p:txBody>
      </p:sp>
      <p:sp>
        <p:nvSpPr>
          <p:cNvPr name="TextBox 10" id="10"/>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1" id="11"/>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grpSp>
        <p:nvGrpSpPr>
          <p:cNvPr name="Group 3" id="3"/>
          <p:cNvGrpSpPr/>
          <p:nvPr/>
        </p:nvGrpSpPr>
        <p:grpSpPr>
          <a:xfrm rot="5400000">
            <a:off x="8776764" y="775764"/>
            <a:ext cx="734472" cy="18288000"/>
            <a:chOff x="0" y="0"/>
            <a:chExt cx="193441" cy="4816593"/>
          </a:xfrm>
        </p:grpSpPr>
        <p:sp>
          <p:nvSpPr>
            <p:cNvPr name="Freeform 4" id="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5" id="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2415389" y="2767994"/>
            <a:ext cx="13457222" cy="6490306"/>
          </a:xfrm>
          <a:custGeom>
            <a:avLst/>
            <a:gdLst/>
            <a:ahLst/>
            <a:cxnLst/>
            <a:rect r="r" b="b" t="t" l="l"/>
            <a:pathLst>
              <a:path h="6490306" w="13457222">
                <a:moveTo>
                  <a:pt x="0" y="0"/>
                </a:moveTo>
                <a:lnTo>
                  <a:pt x="13457222" y="0"/>
                </a:lnTo>
                <a:lnTo>
                  <a:pt x="13457222" y="6490306"/>
                </a:lnTo>
                <a:lnTo>
                  <a:pt x="0" y="6490306"/>
                </a:lnTo>
                <a:lnTo>
                  <a:pt x="0" y="0"/>
                </a:lnTo>
                <a:close/>
              </a:path>
            </a:pathLst>
          </a:custGeom>
          <a:blipFill>
            <a:blip r:embed="rId3"/>
            <a:stretch>
              <a:fillRect l="0" t="0" r="0" b="0"/>
            </a:stretch>
          </a:blipFill>
        </p:spPr>
      </p:sp>
      <p:sp>
        <p:nvSpPr>
          <p:cNvPr name="TextBox 7" id="7"/>
          <p:cNvSpPr txBox="true"/>
          <p:nvPr/>
        </p:nvSpPr>
        <p:spPr>
          <a:xfrm rot="0">
            <a:off x="1028700" y="1200150"/>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V. Simulation</a:t>
            </a:r>
          </a:p>
        </p:txBody>
      </p:sp>
      <p:sp>
        <p:nvSpPr>
          <p:cNvPr name="TextBox 8" id="8"/>
          <p:cNvSpPr txBox="true"/>
          <p:nvPr/>
        </p:nvSpPr>
        <p:spPr>
          <a:xfrm rot="0">
            <a:off x="4785773" y="2098069"/>
            <a:ext cx="8716454" cy="669925"/>
          </a:xfrm>
          <a:prstGeom prst="rect">
            <a:avLst/>
          </a:prstGeom>
        </p:spPr>
        <p:txBody>
          <a:bodyPr anchor="t" rtlCol="false" tIns="0" lIns="0" bIns="0" rIns="0">
            <a:spAutoFit/>
          </a:bodyPr>
          <a:lstStyle/>
          <a:p>
            <a:pPr algn="l">
              <a:lnSpc>
                <a:spcPts val="5599"/>
              </a:lnSpc>
            </a:pPr>
            <a:r>
              <a:rPr lang="en-US" sz="3999" spc="-79">
                <a:solidFill>
                  <a:srgbClr val="291B25"/>
                </a:solidFill>
                <a:latin typeface="Arbutus Slab"/>
                <a:ea typeface="Arbutus Slab"/>
                <a:cs typeface="Arbutus Slab"/>
                <a:sym typeface="Arbutus Slab"/>
              </a:rPr>
              <a:t>Estimated mass of the external load</a:t>
            </a:r>
          </a:p>
        </p:txBody>
      </p:sp>
      <p:sp>
        <p:nvSpPr>
          <p:cNvPr name="TextBox 9" id="9"/>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25</a:t>
            </a:r>
          </a:p>
        </p:txBody>
      </p:sp>
      <p:sp>
        <p:nvSpPr>
          <p:cNvPr name="TextBox 10" id="10"/>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1" id="11"/>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03151" y="294067"/>
            <a:ext cx="1512298" cy="1469265"/>
          </a:xfrm>
          <a:custGeom>
            <a:avLst/>
            <a:gdLst/>
            <a:ahLst/>
            <a:cxnLst/>
            <a:rect r="r" b="b" t="t" l="l"/>
            <a:pathLst>
              <a:path h="1469265" w="1512298">
                <a:moveTo>
                  <a:pt x="0" y="0"/>
                </a:moveTo>
                <a:lnTo>
                  <a:pt x="1512298" y="0"/>
                </a:lnTo>
                <a:lnTo>
                  <a:pt x="1512298" y="1469266"/>
                </a:lnTo>
                <a:lnTo>
                  <a:pt x="0" y="1469266"/>
                </a:lnTo>
                <a:lnTo>
                  <a:pt x="0" y="0"/>
                </a:lnTo>
                <a:close/>
              </a:path>
            </a:pathLst>
          </a:custGeom>
          <a:blipFill>
            <a:blip r:embed="rId2"/>
            <a:stretch>
              <a:fillRect l="0" t="0" r="0" b="0"/>
            </a:stretch>
          </a:blipFill>
        </p:spPr>
      </p:sp>
      <p:sp>
        <p:nvSpPr>
          <p:cNvPr name="TextBox 3" id="3"/>
          <p:cNvSpPr txBox="true"/>
          <p:nvPr/>
        </p:nvSpPr>
        <p:spPr>
          <a:xfrm rot="0">
            <a:off x="1028700" y="1202511"/>
            <a:ext cx="14837336" cy="694636"/>
          </a:xfrm>
          <a:prstGeom prst="rect">
            <a:avLst/>
          </a:prstGeom>
        </p:spPr>
        <p:txBody>
          <a:bodyPr anchor="t" rtlCol="false" tIns="0" lIns="0" bIns="0" rIns="0">
            <a:spAutoFit/>
          </a:bodyPr>
          <a:lstStyle/>
          <a:p>
            <a:pPr algn="l">
              <a:lnSpc>
                <a:spcPts val="5158"/>
              </a:lnSpc>
            </a:pPr>
            <a:r>
              <a:rPr lang="en-US" sz="5731" spc="-114">
                <a:solidFill>
                  <a:srgbClr val="291B25"/>
                </a:solidFill>
                <a:latin typeface="Arbutus Slab"/>
                <a:ea typeface="Arbutus Slab"/>
                <a:cs typeface="Arbutus Slab"/>
                <a:sym typeface="Arbutus Slab"/>
              </a:rPr>
              <a:t>VI. Conclusions and Future work</a:t>
            </a:r>
          </a:p>
        </p:txBody>
      </p:sp>
      <p:sp>
        <p:nvSpPr>
          <p:cNvPr name="TextBox 4" id="4"/>
          <p:cNvSpPr txBox="true"/>
          <p:nvPr/>
        </p:nvSpPr>
        <p:spPr>
          <a:xfrm rot="0">
            <a:off x="1406774" y="2335297"/>
            <a:ext cx="15474451" cy="6719570"/>
          </a:xfrm>
          <a:prstGeom prst="rect">
            <a:avLst/>
          </a:prstGeom>
        </p:spPr>
        <p:txBody>
          <a:bodyPr anchor="t" rtlCol="false" tIns="0" lIns="0" bIns="0" rIns="0">
            <a:spAutoFit/>
          </a:bodyPr>
          <a:lstStyle/>
          <a:p>
            <a:pPr algn="just" marL="690882" indent="-345441" lvl="1">
              <a:lnSpc>
                <a:spcPts val="4480"/>
              </a:lnSpc>
              <a:buFont typeface="Arial"/>
              <a:buChar char="•"/>
            </a:pPr>
            <a:r>
              <a:rPr lang="en-US" sz="3200" spc="-64">
                <a:solidFill>
                  <a:srgbClr val="291B25"/>
                </a:solidFill>
                <a:latin typeface="Arbutus Slab"/>
                <a:ea typeface="Arbutus Slab"/>
                <a:cs typeface="Arbutus Slab"/>
                <a:sym typeface="Arbutus Slab"/>
              </a:rPr>
              <a:t>The proposed motion planning and control strategies are capable of generating trajectories that the TWFR is capable of executing with an admissible position error.</a:t>
            </a:r>
          </a:p>
          <a:p>
            <a:pPr algn="just" marL="690882" indent="-345441" lvl="1">
              <a:lnSpc>
                <a:spcPts val="4480"/>
              </a:lnSpc>
              <a:buFont typeface="Arial"/>
              <a:buChar char="•"/>
            </a:pPr>
            <a:r>
              <a:rPr lang="en-US" sz="3200" spc="-64">
                <a:solidFill>
                  <a:srgbClr val="291B25"/>
                </a:solidFill>
                <a:latin typeface="Arbutus Slab"/>
                <a:ea typeface="Arbutus Slab"/>
                <a:cs typeface="Arbutus Slab"/>
                <a:sym typeface="Arbutus Slab"/>
              </a:rPr>
              <a:t>The implementation of adaptive IK and ID solutions that depend on the estimation of physical properties of the external load provides great flexibility in industrial environments where it is not possible to control the variables of the load that will be manipulated.</a:t>
            </a:r>
          </a:p>
          <a:p>
            <a:pPr algn="just" marL="690882" indent="-345441" lvl="1">
              <a:lnSpc>
                <a:spcPts val="4480"/>
              </a:lnSpc>
              <a:buFont typeface="Arial"/>
              <a:buChar char="•"/>
            </a:pPr>
            <a:r>
              <a:rPr lang="en-US" sz="3200" spc="-64">
                <a:solidFill>
                  <a:srgbClr val="291B25"/>
                </a:solidFill>
                <a:latin typeface="Arbutus Slab"/>
                <a:ea typeface="Arbutus Slab"/>
                <a:cs typeface="Arbutus Slab"/>
                <a:sym typeface="Arbutus Slab"/>
              </a:rPr>
              <a:t>The next steps for this work are the detailed mechanical design and construction of the lift subsystem. With the complete TWFR, the mathematical modeling and control parameters must be adapted to match the real system to test physically the presented motion planning and control algorithms.</a:t>
            </a:r>
          </a:p>
        </p:txBody>
      </p:sp>
      <p:grpSp>
        <p:nvGrpSpPr>
          <p:cNvPr name="Group 5" id="5"/>
          <p:cNvGrpSpPr/>
          <p:nvPr/>
        </p:nvGrpSpPr>
        <p:grpSpPr>
          <a:xfrm rot="5400000">
            <a:off x="8776764" y="775764"/>
            <a:ext cx="734472" cy="18288000"/>
            <a:chOff x="0" y="0"/>
            <a:chExt cx="193441" cy="4816593"/>
          </a:xfrm>
        </p:grpSpPr>
        <p:sp>
          <p:nvSpPr>
            <p:cNvPr name="Freeform 6" id="6"/>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7" id="7"/>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8" id="8"/>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26</a:t>
            </a:r>
          </a:p>
        </p:txBody>
      </p:sp>
      <p:sp>
        <p:nvSpPr>
          <p:cNvPr name="TextBox 9" id="9"/>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10" id="10"/>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5332" y="767107"/>
            <a:ext cx="14837336" cy="694636"/>
          </a:xfrm>
          <a:prstGeom prst="rect">
            <a:avLst/>
          </a:prstGeom>
        </p:spPr>
        <p:txBody>
          <a:bodyPr anchor="t" rtlCol="false" tIns="0" lIns="0" bIns="0" rIns="0">
            <a:spAutoFit/>
          </a:bodyPr>
          <a:lstStyle/>
          <a:p>
            <a:pPr algn="ctr">
              <a:lnSpc>
                <a:spcPts val="5158"/>
              </a:lnSpc>
            </a:pPr>
            <a:r>
              <a:rPr lang="en-US" sz="5731" spc="-114">
                <a:solidFill>
                  <a:srgbClr val="291B25"/>
                </a:solidFill>
                <a:latin typeface="Arbutus Slab"/>
                <a:ea typeface="Arbutus Slab"/>
                <a:cs typeface="Arbutus Slab"/>
                <a:sym typeface="Arbutus Slab"/>
              </a:rPr>
              <a:t>References</a:t>
            </a:r>
          </a:p>
        </p:txBody>
      </p:sp>
      <p:sp>
        <p:nvSpPr>
          <p:cNvPr name="TextBox 3" id="3"/>
          <p:cNvSpPr txBox="true"/>
          <p:nvPr/>
        </p:nvSpPr>
        <p:spPr>
          <a:xfrm rot="0">
            <a:off x="876049" y="1660168"/>
            <a:ext cx="15686619" cy="6849110"/>
          </a:xfrm>
          <a:prstGeom prst="rect">
            <a:avLst/>
          </a:prstGeom>
        </p:spPr>
        <p:txBody>
          <a:bodyPr anchor="t" rtlCol="false" tIns="0" lIns="0" bIns="0" rIns="0">
            <a:spAutoFit/>
          </a:bodyPr>
          <a:lstStyle/>
          <a:p>
            <a:pPr algn="just">
              <a:lnSpc>
                <a:spcPts val="3640"/>
              </a:lnSpc>
            </a:pPr>
            <a:r>
              <a:rPr lang="en-US" sz="2600" spc="-52">
                <a:solidFill>
                  <a:srgbClr val="291B25"/>
                </a:solidFill>
                <a:latin typeface="Arbutus Slab"/>
                <a:ea typeface="Arbutus Slab"/>
                <a:cs typeface="Arbutus Slab"/>
                <a:sym typeface="Arbutus Slab"/>
              </a:rPr>
              <a:t>[1] H. Kanazawa, K. Ishizaki, Y. Miyata, M. Nawa, N. Kato, and T. Murakami, "Model-Based Pitch Angle Compensation for Center of Gravity Variation in Underactuated System with an Arm," in Proceedings of the 2023 IEEE 32nd International Symposium on Industrial Electronics (ISIE), 2023, pp. 1-6. </a:t>
            </a:r>
          </a:p>
          <a:p>
            <a:pPr algn="just">
              <a:lnSpc>
                <a:spcPts val="3640"/>
              </a:lnSpc>
            </a:pPr>
            <a:r>
              <a:rPr lang="en-US" sz="2600" spc="-52">
                <a:solidFill>
                  <a:srgbClr val="291B25"/>
                </a:solidFill>
                <a:latin typeface="Arbutus Slab"/>
                <a:ea typeface="Arbutus Slab"/>
                <a:cs typeface="Arbutus Slab"/>
                <a:sym typeface="Arbutus Slab"/>
              </a:rPr>
              <a:t>[2] H. Yajima, K. Ishizaki, Y. Miyata, M. Nawa, N. Kato, and T. Murakami, "Posture Stabilization Control Compensating Variation of Body Center of Gravity in Underactuated System," in Proceedings of the 2023 IEEE International Conference on Mechatronics (ICM), 2023, pp. 1-6.</a:t>
            </a:r>
          </a:p>
          <a:p>
            <a:pPr algn="just">
              <a:lnSpc>
                <a:spcPts val="3640"/>
              </a:lnSpc>
            </a:pPr>
            <a:r>
              <a:rPr lang="en-US" sz="2600" spc="-52">
                <a:solidFill>
                  <a:srgbClr val="291B25"/>
                </a:solidFill>
                <a:latin typeface="Arbutus Slab"/>
                <a:ea typeface="Arbutus Slab"/>
                <a:cs typeface="Arbutus Slab"/>
                <a:sym typeface="Arbutus Slab"/>
              </a:rPr>
              <a:t>[3] J. Ito and T. Murakami, "Underactuated Control for Two-Wheeled Mobile Robot with an Arm Using Torque Constraint Conditions and Disturbance Observer," in Proceedings of the 2023 IEEE 32nd International Symposium on Industrial Electronics (ISIE), 2023, pp. 1-6.</a:t>
            </a:r>
          </a:p>
          <a:p>
            <a:pPr algn="just">
              <a:lnSpc>
                <a:spcPts val="3640"/>
              </a:lnSpc>
            </a:pPr>
            <a:r>
              <a:rPr lang="en-US" sz="2600" spc="-52">
                <a:solidFill>
                  <a:srgbClr val="291B25"/>
                </a:solidFill>
                <a:latin typeface="Arbutus Slab"/>
                <a:ea typeface="Arbutus Slab"/>
                <a:cs typeface="Arbutus Slab"/>
                <a:sym typeface="Arbutus Slab"/>
              </a:rPr>
              <a:t>[4] Mezawa, M. (2022). Virtual Suspension Control in Two-Wheeled Transport Robot (Master's thesis, Keio University).</a:t>
            </a:r>
          </a:p>
          <a:p>
            <a:pPr algn="just">
              <a:lnSpc>
                <a:spcPts val="3640"/>
              </a:lnSpc>
            </a:pPr>
            <a:r>
              <a:rPr lang="en-US" sz="2600" spc="-52">
                <a:solidFill>
                  <a:srgbClr val="291B25"/>
                </a:solidFill>
                <a:latin typeface="Arbutus Slab"/>
                <a:ea typeface="Arbutus Slab"/>
                <a:cs typeface="Arbutus Slab"/>
                <a:sym typeface="Arbutus Slab"/>
              </a:rPr>
              <a:t>[A] https://www.flaticon.com/free-icons/comparison</a:t>
            </a:r>
          </a:p>
          <a:p>
            <a:pPr algn="just">
              <a:lnSpc>
                <a:spcPts val="3640"/>
              </a:lnSpc>
            </a:pPr>
            <a:r>
              <a:rPr lang="en-US" sz="2600" spc="-52">
                <a:solidFill>
                  <a:srgbClr val="291B25"/>
                </a:solidFill>
                <a:latin typeface="Arbutus Slab"/>
                <a:ea typeface="Arbutus Slab"/>
                <a:cs typeface="Arbutus Slab"/>
                <a:sym typeface="Arbutus Slab"/>
              </a:rPr>
              <a:t>[B] https://www.flaticon.com/free-icons/standard</a:t>
            </a:r>
          </a:p>
          <a:p>
            <a:pPr algn="just">
              <a:lnSpc>
                <a:spcPts val="3640"/>
              </a:lnSpc>
              <a:spcBef>
                <a:spcPct val="0"/>
              </a:spcBef>
            </a:pPr>
            <a:r>
              <a:rPr lang="en-US" sz="2600" spc="-52">
                <a:solidFill>
                  <a:srgbClr val="291B25"/>
                </a:solidFill>
                <a:latin typeface="Arbutus Slab"/>
                <a:ea typeface="Arbutus Slab"/>
                <a:cs typeface="Arbutus Slab"/>
                <a:sym typeface="Arbutus Slab"/>
              </a:rPr>
              <a:t>[C] https://www.flaticon.com/free-icons/storage</a:t>
            </a:r>
          </a:p>
        </p:txBody>
      </p:sp>
      <p:grpSp>
        <p:nvGrpSpPr>
          <p:cNvPr name="Group 4" id="4"/>
          <p:cNvGrpSpPr/>
          <p:nvPr/>
        </p:nvGrpSpPr>
        <p:grpSpPr>
          <a:xfrm rot="5400000">
            <a:off x="8776764" y="775764"/>
            <a:ext cx="734472" cy="18288000"/>
            <a:chOff x="0" y="0"/>
            <a:chExt cx="193441" cy="4816593"/>
          </a:xfrm>
        </p:grpSpPr>
        <p:sp>
          <p:nvSpPr>
            <p:cNvPr name="Freeform 5" id="5"/>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6" id="6"/>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7" id="7"/>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27</a:t>
            </a:r>
          </a:p>
        </p:txBody>
      </p:sp>
      <p:sp>
        <p:nvSpPr>
          <p:cNvPr name="TextBox 8" id="8"/>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9" id="9"/>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5332" y="4448864"/>
            <a:ext cx="14837336" cy="694636"/>
          </a:xfrm>
          <a:prstGeom prst="rect">
            <a:avLst/>
          </a:prstGeom>
        </p:spPr>
        <p:txBody>
          <a:bodyPr anchor="t" rtlCol="false" tIns="0" lIns="0" bIns="0" rIns="0">
            <a:spAutoFit/>
          </a:bodyPr>
          <a:lstStyle/>
          <a:p>
            <a:pPr algn="ctr">
              <a:lnSpc>
                <a:spcPts val="5158"/>
              </a:lnSpc>
            </a:pPr>
            <a:r>
              <a:rPr lang="en-US" sz="5731" spc="-114">
                <a:solidFill>
                  <a:srgbClr val="291B25"/>
                </a:solidFill>
                <a:latin typeface="Arbutus Slab"/>
                <a:ea typeface="Arbutus Slab"/>
                <a:cs typeface="Arbutus Slab"/>
                <a:sym typeface="Arbutus Slab"/>
              </a:rPr>
              <a:t>Thank you!</a:t>
            </a:r>
          </a:p>
        </p:txBody>
      </p:sp>
      <p:grpSp>
        <p:nvGrpSpPr>
          <p:cNvPr name="Group 3" id="3"/>
          <p:cNvGrpSpPr/>
          <p:nvPr/>
        </p:nvGrpSpPr>
        <p:grpSpPr>
          <a:xfrm rot="5400000">
            <a:off x="8776764" y="775764"/>
            <a:ext cx="734472" cy="18288000"/>
            <a:chOff x="0" y="0"/>
            <a:chExt cx="193441" cy="4816593"/>
          </a:xfrm>
        </p:grpSpPr>
        <p:sp>
          <p:nvSpPr>
            <p:cNvPr name="Freeform 4" id="4"/>
            <p:cNvSpPr/>
            <p:nvPr/>
          </p:nvSpPr>
          <p:spPr>
            <a:xfrm flipH="false" flipV="false" rot="0">
              <a:off x="0" y="0"/>
              <a:ext cx="193441" cy="4816592"/>
            </a:xfrm>
            <a:custGeom>
              <a:avLst/>
              <a:gdLst/>
              <a:ahLst/>
              <a:cxnLst/>
              <a:rect r="r" b="b" t="t" l="l"/>
              <a:pathLst>
                <a:path h="4816592" w="193441">
                  <a:moveTo>
                    <a:pt x="0" y="0"/>
                  </a:moveTo>
                  <a:lnTo>
                    <a:pt x="193441" y="0"/>
                  </a:lnTo>
                  <a:lnTo>
                    <a:pt x="193441" y="4816592"/>
                  </a:lnTo>
                  <a:lnTo>
                    <a:pt x="0" y="4816592"/>
                  </a:lnTo>
                  <a:close/>
                </a:path>
              </a:pathLst>
            </a:custGeom>
            <a:solidFill>
              <a:srgbClr val="291B25"/>
            </a:solidFill>
          </p:spPr>
        </p:sp>
        <p:sp>
          <p:nvSpPr>
            <p:cNvPr name="TextBox 5" id="5"/>
            <p:cNvSpPr txBox="true"/>
            <p:nvPr/>
          </p:nvSpPr>
          <p:spPr>
            <a:xfrm>
              <a:off x="0" y="-47625"/>
              <a:ext cx="193441" cy="4864218"/>
            </a:xfrm>
            <a:prstGeom prst="rect">
              <a:avLst/>
            </a:prstGeom>
          </p:spPr>
          <p:txBody>
            <a:bodyPr anchor="ctr" rtlCol="false" tIns="50800" lIns="50800" bIns="50800" rIns="50800"/>
            <a:lstStyle/>
            <a:p>
              <a:pPr algn="ctr">
                <a:lnSpc>
                  <a:spcPts val="3359"/>
                </a:lnSpc>
              </a:pPr>
            </a:p>
          </p:txBody>
        </p:sp>
      </p:grpSp>
      <p:sp>
        <p:nvSpPr>
          <p:cNvPr name="TextBox 6" id="6"/>
          <p:cNvSpPr txBox="true"/>
          <p:nvPr/>
        </p:nvSpPr>
        <p:spPr>
          <a:xfrm rot="0">
            <a:off x="17275996" y="9676336"/>
            <a:ext cx="203388" cy="487633"/>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Arbutus Slab"/>
                <a:ea typeface="Arbutus Slab"/>
                <a:cs typeface="Arbutus Slab"/>
                <a:sym typeface="Arbutus Slab"/>
              </a:rPr>
              <a:t>28</a:t>
            </a:r>
          </a:p>
        </p:txBody>
      </p:sp>
      <p:sp>
        <p:nvSpPr>
          <p:cNvPr name="TextBox 7" id="7"/>
          <p:cNvSpPr txBox="true"/>
          <p:nvPr/>
        </p:nvSpPr>
        <p:spPr>
          <a:xfrm rot="0">
            <a:off x="6017002" y="9684814"/>
            <a:ext cx="6253996"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SUM Sergio Esteban Quintero Benavides</a:t>
            </a:r>
          </a:p>
        </p:txBody>
      </p:sp>
      <p:sp>
        <p:nvSpPr>
          <p:cNvPr name="TextBox 8" id="8"/>
          <p:cNvSpPr txBox="true"/>
          <p:nvPr/>
        </p:nvSpPr>
        <p:spPr>
          <a:xfrm rot="0">
            <a:off x="421400" y="9684814"/>
            <a:ext cx="2734017" cy="422275"/>
          </a:xfrm>
          <a:prstGeom prst="rect">
            <a:avLst/>
          </a:prstGeom>
        </p:spPr>
        <p:txBody>
          <a:bodyPr anchor="t" rtlCol="false" tIns="0" lIns="0" bIns="0" rIns="0">
            <a:spAutoFit/>
          </a:bodyPr>
          <a:lstStyle/>
          <a:p>
            <a:pPr algn="ctr">
              <a:lnSpc>
                <a:spcPts val="3499"/>
              </a:lnSpc>
            </a:pPr>
            <a:r>
              <a:rPr lang="en-US" sz="2499">
                <a:solidFill>
                  <a:srgbClr val="FFFFFF"/>
                </a:solidFill>
                <a:latin typeface="Arbutus Slab"/>
                <a:ea typeface="Arbutus Slab"/>
                <a:cs typeface="Arbutus Slab"/>
                <a:sym typeface="Arbutus Slab"/>
              </a:rPr>
              <a:t>2025/04/19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DAGk_w108Hc</dc:identifier>
  <dcterms:modified xsi:type="dcterms:W3CDTF">2011-08-01T06:04:30Z</dcterms:modified>
  <cp:revision>1</cp:revision>
  <dc:title>SUM2</dc:title>
</cp:coreProperties>
</file>